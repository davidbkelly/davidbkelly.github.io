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480" r:id="rId2"/>
    <p:sldId id="479" r:id="rId3"/>
    <p:sldId id="470" r:id="rId4"/>
    <p:sldId id="471" r:id="rId5"/>
    <p:sldId id="257" r:id="rId6"/>
    <p:sldId id="482" r:id="rId7"/>
    <p:sldId id="481" r:id="rId8"/>
    <p:sldId id="473" r:id="rId9"/>
    <p:sldId id="475" r:id="rId10"/>
    <p:sldId id="478" r:id="rId11"/>
    <p:sldId id="464" r:id="rId12"/>
    <p:sldId id="477" r:id="rId13"/>
  </p:sldIdLst>
  <p:sldSz cx="9144000" cy="6858000" type="screen4x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63"/>
    <p:restoredTop sz="94830"/>
  </p:normalViewPr>
  <p:slideViewPr>
    <p:cSldViewPr snapToGrid="0">
      <p:cViewPr varScale="1">
        <p:scale>
          <a:sx n="121" d="100"/>
          <a:sy n="121" d="100"/>
        </p:scale>
        <p:origin x="16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67DED5F-53F9-FFF7-DE7D-E4BE4BC09A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856A59-F836-9830-C6FA-DC7122E089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577118-3C67-420F-AE66-E9A23EB9B9CB}" type="datetimeFigureOut">
              <a:rPr lang="en-US" smtClean="0"/>
              <a:t>1/24/26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D0B0EF-B79D-D731-D35B-4A50D5CBAF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65967-3CD8-703C-5515-2F4CD1DCE7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27BD7B-D698-4AD2-A7DB-99633CA23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206385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3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solidFill>
                  <a:srgbClr val="303D22"/>
                </a:solidFill>
                <a:latin typeface="Arial"/>
              </a:rPr>
              <a:t>&lt;header&gt;</a:t>
            </a:r>
          </a:p>
        </p:txBody>
      </p:sp>
      <p:sp>
        <p:nvSpPr>
          <p:cNvPr id="39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solidFill>
                  <a:srgbClr val="303D22"/>
                </a:solidFill>
                <a:latin typeface="Arial"/>
              </a:rPr>
              <a:t>&lt;date/time&gt;</a:t>
            </a:r>
          </a:p>
        </p:txBody>
      </p:sp>
      <p:sp>
        <p:nvSpPr>
          <p:cNvPr id="40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solidFill>
                  <a:srgbClr val="303D22"/>
                </a:solidFill>
                <a:latin typeface="Arial"/>
              </a:rPr>
              <a:t>&lt;footer&gt;</a:t>
            </a:r>
          </a:p>
        </p:txBody>
      </p:sp>
      <p:sp>
        <p:nvSpPr>
          <p:cNvPr id="41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8FB34404-1D25-4B39-A490-AA2D6DD74B1B}" type="slidenum">
              <a:rPr lang="en-US" sz="1400" b="0" strike="noStrike" spc="-1">
                <a:solidFill>
                  <a:srgbClr val="303D22"/>
                </a:solidFill>
                <a:latin typeface="Arial"/>
              </a:rPr>
              <a:t>‹#›</a:t>
            </a:fld>
            <a:endParaRPr lang="en-US" sz="1400" b="0" strike="noStrike" spc="-1">
              <a:solidFill>
                <a:srgbClr val="303D22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3E2AF-0CF8-D785-A987-75209E840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DA709B-CE7C-E992-5647-0680F21BA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D2AFDA-84C4-19DA-3759-8A7878449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1D12B3-19F5-BAAE-2A9E-8B4C2C8583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0D91-4B1B-484F-BF72-94C0BFFECEED}" type="slidenum">
              <a:rPr lang="en-US" smtClean="0"/>
              <a:t>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F63CBE-7EE6-2B76-5BC8-91175ED7743C}"/>
              </a:ext>
            </a:extLst>
          </p:cNvPr>
          <p:cNvSpPr>
            <a:spLocks noGrp="1"/>
          </p:cNvSpPr>
          <p:nvPr>
            <p:ph type="dt"/>
          </p:nvPr>
        </p:nvSpPr>
        <p:spPr/>
        <p:txBody>
          <a:bodyPr/>
          <a:lstStyle/>
          <a:p>
            <a:pPr algn="r"/>
            <a:r>
              <a:rPr lang="en-US" sz="1400" b="0" strike="noStrike" spc="-1">
                <a:solidFill>
                  <a:srgbClr val="303D22"/>
                </a:solidFill>
                <a:latin typeface="Arial"/>
              </a:rPr>
              <a:t>&lt;date/time&gt;</a:t>
            </a:r>
          </a:p>
        </p:txBody>
      </p:sp>
    </p:spTree>
    <p:extLst>
      <p:ext uri="{BB962C8B-B14F-4D97-AF65-F5344CB8AC3E}">
        <p14:creationId xmlns:p14="http://schemas.microsoft.com/office/powerpoint/2010/main" val="94644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DB289-2FE7-1D2D-4194-220ECA2C6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3D329A-6583-4B0C-4355-72DECE4074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A99501-A97F-91D6-BBF9-B27398A31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E7F16-22A3-5F52-8315-26BBCC614F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0D91-4B1B-484F-BF72-94C0BFFECEED}" type="slidenum">
              <a:rPr lang="en-US" smtClean="0"/>
              <a:t>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5DFFB3-9545-4E36-EA7F-624EF6D4E787}"/>
              </a:ext>
            </a:extLst>
          </p:cNvPr>
          <p:cNvSpPr>
            <a:spLocks noGrp="1"/>
          </p:cNvSpPr>
          <p:nvPr>
            <p:ph type="dt"/>
          </p:nvPr>
        </p:nvSpPr>
        <p:spPr/>
        <p:txBody>
          <a:bodyPr/>
          <a:lstStyle/>
          <a:p>
            <a:pPr algn="r"/>
            <a:r>
              <a:rPr lang="en-US" sz="1400" b="0" strike="noStrike" spc="-1">
                <a:solidFill>
                  <a:srgbClr val="303D22"/>
                </a:solidFill>
                <a:latin typeface="Arial"/>
              </a:rPr>
              <a:t>&lt;date/time&gt;</a:t>
            </a:r>
          </a:p>
        </p:txBody>
      </p:sp>
    </p:spTree>
    <p:extLst>
      <p:ext uri="{BB962C8B-B14F-4D97-AF65-F5344CB8AC3E}">
        <p14:creationId xmlns:p14="http://schemas.microsoft.com/office/powerpoint/2010/main" val="595584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microsoft.com/office/2007/relationships/media" Target="../media/media2.mov"/><Relationship Id="rId7" Type="http://schemas.openxmlformats.org/officeDocument/2006/relationships/image" Target="../media/image19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8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ov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media" Target="../media/media1.mp4"/><Relationship Id="rId7" Type="http://schemas.openxmlformats.org/officeDocument/2006/relationships/image" Target="../media/image19.png"/><Relationship Id="rId2" Type="http://schemas.openxmlformats.org/officeDocument/2006/relationships/video" Target="../media/media2.mov"/><Relationship Id="rId1" Type="http://schemas.microsoft.com/office/2007/relationships/media" Target="../media/media2.mov"/><Relationship Id="rId6" Type="http://schemas.openxmlformats.org/officeDocument/2006/relationships/image" Target="../media/image20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1.mp4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200.png"/><Relationship Id="rId7" Type="http://schemas.openxmlformats.org/officeDocument/2006/relationships/image" Target="../media/image16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9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6.png"/><Relationship Id="rId5" Type="http://schemas.openxmlformats.org/officeDocument/2006/relationships/image" Target="../media/image22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21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26" Type="http://schemas.openxmlformats.org/officeDocument/2006/relationships/image" Target="../media/image54.png"/><Relationship Id="rId3" Type="http://schemas.openxmlformats.org/officeDocument/2006/relationships/image" Target="../media/image34.png"/><Relationship Id="rId21" Type="http://schemas.openxmlformats.org/officeDocument/2006/relationships/image" Target="../media/image49.png"/><Relationship Id="rId7" Type="http://schemas.openxmlformats.org/officeDocument/2006/relationships/image" Target="../media/image16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5" Type="http://schemas.openxmlformats.org/officeDocument/2006/relationships/image" Target="../media/image53.png"/><Relationship Id="rId2" Type="http://schemas.openxmlformats.org/officeDocument/2006/relationships/image" Target="../media/image9.png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39.png"/><Relationship Id="rId24" Type="http://schemas.openxmlformats.org/officeDocument/2006/relationships/image" Target="../media/image52.png"/><Relationship Id="rId5" Type="http://schemas.openxmlformats.org/officeDocument/2006/relationships/image" Target="../media/image36.png"/><Relationship Id="rId15" Type="http://schemas.openxmlformats.org/officeDocument/2006/relationships/image" Target="../media/image43.png"/><Relationship Id="rId23" Type="http://schemas.openxmlformats.org/officeDocument/2006/relationships/image" Target="../media/image51.png"/><Relationship Id="rId28" Type="http://schemas.openxmlformats.org/officeDocument/2006/relationships/image" Target="../media/image56.png"/><Relationship Id="rId10" Type="http://schemas.openxmlformats.org/officeDocument/2006/relationships/image" Target="../media/image38.png"/><Relationship Id="rId19" Type="http://schemas.openxmlformats.org/officeDocument/2006/relationships/image" Target="../media/image47.png"/><Relationship Id="rId4" Type="http://schemas.openxmlformats.org/officeDocument/2006/relationships/image" Target="../media/image35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Relationship Id="rId22" Type="http://schemas.openxmlformats.org/officeDocument/2006/relationships/image" Target="../media/image50.png"/><Relationship Id="rId27" Type="http://schemas.openxmlformats.org/officeDocument/2006/relationships/image" Target="../media/image5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602FA-533B-2417-C431-5D9993AD0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5BEF581-CE3C-23C5-6A45-7D4EA0174030}"/>
              </a:ext>
            </a:extLst>
          </p:cNvPr>
          <p:cNvSpPr/>
          <p:nvPr/>
        </p:nvSpPr>
        <p:spPr>
          <a:xfrm>
            <a:off x="1" y="-60385"/>
            <a:ext cx="9144000" cy="3489385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684A70-96F4-E0D6-E09F-372EA111132F}"/>
              </a:ext>
            </a:extLst>
          </p:cNvPr>
          <p:cNvSpPr txBox="1"/>
          <p:nvPr/>
        </p:nvSpPr>
        <p:spPr>
          <a:xfrm>
            <a:off x="700476" y="1736612"/>
            <a:ext cx="7743047" cy="1069625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  <a:defRPr/>
            </a:pPr>
            <a:r>
              <a:rPr lang="en-US" sz="3200" b="1" dirty="0">
                <a:latin typeface="Montserrat" pitchFamily="2" charset="77"/>
                <a:ea typeface="+mj-ea"/>
                <a:cs typeface="Times New Roman" panose="02020603050405020304" pitchFamily="18" charset="0"/>
              </a:rPr>
              <a:t>Coupling a 3D Finite-Volume Left Ventricular Model with 0D Lumped Parameter Circulation using </a:t>
            </a:r>
            <a:r>
              <a:rPr lang="en-US" sz="3200" b="1" dirty="0" err="1">
                <a:latin typeface="Montserrat" pitchFamily="2" charset="77"/>
                <a:ea typeface="+mj-ea"/>
                <a:cs typeface="Times New Roman" panose="02020603050405020304" pitchFamily="18" charset="0"/>
              </a:rPr>
              <a:t>OpenFOAM</a:t>
            </a:r>
            <a:endParaRPr lang="en-US" sz="3200" b="1" dirty="0">
              <a:latin typeface="Montserrat" pitchFamily="2" charset="77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CAD61A-FB2E-9B8E-59E6-19A1494AD408}"/>
              </a:ext>
            </a:extLst>
          </p:cNvPr>
          <p:cNvSpPr txBox="1"/>
          <p:nvPr/>
        </p:nvSpPr>
        <p:spPr>
          <a:xfrm>
            <a:off x="4274274" y="4446616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>
              <a:buNone/>
            </a:pPr>
            <a:r>
              <a:rPr lang="en-US" sz="1800" b="1" i="0" u="none" strike="noStrike" dirty="0">
                <a:effectLst/>
                <a:latin typeface="Montserrat" panose="00000500000000000000" pitchFamily="2" charset="0"/>
              </a:rPr>
              <a:t>David Kelly</a:t>
            </a:r>
          </a:p>
          <a:p>
            <a:pPr algn="r" rtl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64331-8DD8-CA95-853A-2A24C1201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699DFF1-FFE5-5780-7C7A-0D9371AEE26B}"/>
              </a:ext>
            </a:extLst>
          </p:cNvPr>
          <p:cNvSpPr/>
          <p:nvPr/>
        </p:nvSpPr>
        <p:spPr>
          <a:xfrm>
            <a:off x="1" y="-60385"/>
            <a:ext cx="9144000" cy="3489385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59581E-EDA7-9374-D472-5F4E113C5363}"/>
              </a:ext>
            </a:extLst>
          </p:cNvPr>
          <p:cNvSpPr txBox="1"/>
          <p:nvPr/>
        </p:nvSpPr>
        <p:spPr>
          <a:xfrm>
            <a:off x="700476" y="1736612"/>
            <a:ext cx="7743047" cy="1069625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  <a:defRPr/>
            </a:pPr>
            <a:r>
              <a:rPr lang="en-US" sz="3200" b="1" dirty="0">
                <a:latin typeface="Montserrat" pitchFamily="2" charset="77"/>
                <a:ea typeface="+mj-ea"/>
                <a:cs typeface="Times New Roman" panose="02020603050405020304" pitchFamily="18" charset="0"/>
              </a:rPr>
              <a:t>Coupling a 3D Finite-Volume Left Ventricular Model with 0D Lumped Parameter Circulation using </a:t>
            </a:r>
            <a:r>
              <a:rPr lang="en-US" sz="3200" b="1" dirty="0" err="1">
                <a:latin typeface="Montserrat" pitchFamily="2" charset="77"/>
                <a:ea typeface="+mj-ea"/>
                <a:cs typeface="Times New Roman" panose="02020603050405020304" pitchFamily="18" charset="0"/>
              </a:rPr>
              <a:t>OpenFOAM</a:t>
            </a:r>
            <a:endParaRPr lang="en-US" sz="3200" b="1" dirty="0">
              <a:latin typeface="Montserrat" pitchFamily="2" charset="77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E1301AD-8B4C-59C0-002A-54DE3433A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117" y="3941416"/>
            <a:ext cx="2450622" cy="1076464"/>
          </a:xfrm>
          <a:prstGeom prst="rect">
            <a:avLst/>
          </a:prstGeom>
        </p:spPr>
      </p:pic>
      <p:pic>
        <p:nvPicPr>
          <p:cNvPr id="1027" name="Picture 3" descr="Images and logos | UCD Smurfit School">
            <a:extLst>
              <a:ext uri="{FF2B5EF4-FFF2-40B4-BE49-F238E27FC236}">
                <a16:creationId xmlns:a16="http://schemas.microsoft.com/office/drawing/2014/main" id="{62BC1260-A8B6-4652-B420-03E4159849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6" r="67588"/>
          <a:stretch>
            <a:fillRect/>
          </a:stretch>
        </p:blipFill>
        <p:spPr bwMode="auto">
          <a:xfrm>
            <a:off x="297726" y="4002633"/>
            <a:ext cx="648404" cy="954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4160EB-41B5-1F4B-502D-A2F432B24337}"/>
              </a:ext>
            </a:extLst>
          </p:cNvPr>
          <p:cNvSpPr txBox="1"/>
          <p:nvPr/>
        </p:nvSpPr>
        <p:spPr>
          <a:xfrm>
            <a:off x="159204" y="170885"/>
            <a:ext cx="30983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Montserrat" panose="020F0502020204030204" pitchFamily="2" charset="0"/>
              </a:rPr>
              <a:t>23</a:t>
            </a:r>
            <a:r>
              <a:rPr lang="en-US" baseline="30000" dirty="0">
                <a:solidFill>
                  <a:schemeClr val="bg1"/>
                </a:solidFill>
                <a:latin typeface="Montserrat" panose="020F0502020204030204" pitchFamily="2" charset="0"/>
              </a:rPr>
              <a:t>rd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Montserrat" panose="020F0502020204030204" pitchFamily="2" charset="0"/>
              </a:rPr>
              <a:t> &amp; 24</a:t>
            </a:r>
            <a:r>
              <a:rPr lang="en-US" sz="1800" b="0" i="0" u="none" strike="noStrike" baseline="30000" dirty="0">
                <a:solidFill>
                  <a:schemeClr val="bg1"/>
                </a:solidFill>
                <a:effectLst/>
                <a:latin typeface="Montserrat" panose="020F0502020204030204" pitchFamily="2" charset="0"/>
              </a:rPr>
              <a:t>th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Montserrat" panose="020F0502020204030204" pitchFamily="2" charset="0"/>
              </a:rPr>
              <a:t> January 2026</a:t>
            </a:r>
            <a:endParaRPr lang="en-US" b="0" dirty="0">
              <a:solidFill>
                <a:schemeClr val="bg1"/>
              </a:solidFill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C1A3DA-63E4-5458-3B3B-768B42B4F9BE}"/>
              </a:ext>
            </a:extLst>
          </p:cNvPr>
          <p:cNvSpPr txBox="1"/>
          <p:nvPr/>
        </p:nvSpPr>
        <p:spPr>
          <a:xfrm>
            <a:off x="4454105" y="132184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>
              <a:buNone/>
            </a:pPr>
            <a:r>
              <a:rPr lang="en-US" sz="1800" b="0" i="0" u="none" strike="noStrike" dirty="0" err="1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BinI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 2026 Conference</a:t>
            </a:r>
            <a:endParaRPr lang="en-US" b="0" dirty="0">
              <a:solidFill>
                <a:schemeClr val="bg1"/>
              </a:solidFill>
              <a:effectLst/>
            </a:endParaRPr>
          </a:p>
          <a:p>
            <a:pPr algn="r" rtl="0">
              <a:buNone/>
            </a:pP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Hodson Bay Hotel</a:t>
            </a:r>
          </a:p>
          <a:p>
            <a:pPr algn="r" rtl="0">
              <a:buNone/>
            </a:pPr>
            <a:r>
              <a:rPr lang="en-US" dirty="0">
                <a:solidFill>
                  <a:schemeClr val="bg1"/>
                </a:solidFill>
                <a:latin typeface="Montserrat" panose="00000500000000000000" pitchFamily="2" charset="0"/>
              </a:rPr>
              <a:t>Athlone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, Ireland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75FD77-9F7C-BA10-16A8-BC4AC1AA4DDB}"/>
              </a:ext>
            </a:extLst>
          </p:cNvPr>
          <p:cNvSpPr txBox="1"/>
          <p:nvPr/>
        </p:nvSpPr>
        <p:spPr>
          <a:xfrm>
            <a:off x="2927321" y="5973356"/>
            <a:ext cx="60987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>
              <a:buNone/>
            </a:pPr>
            <a:r>
              <a:rPr lang="en-US" sz="1400" b="0" i="0" u="none" strike="noStrike" dirty="0">
                <a:solidFill>
                  <a:srgbClr val="53585F"/>
                </a:solidFill>
                <a:effectLst/>
                <a:latin typeface="Montserrat" panose="00000500000000000000" pitchFamily="2" charset="0"/>
              </a:rPr>
              <a:t>School of Mechanical and Materials Engineering</a:t>
            </a:r>
            <a:endParaRPr lang="en-US" sz="1400" b="0" dirty="0">
              <a:effectLst/>
            </a:endParaRPr>
          </a:p>
          <a:p>
            <a:pPr algn="r" rtl="0">
              <a:buNone/>
            </a:pPr>
            <a:r>
              <a:rPr lang="en-US" sz="1400" b="0" i="0" u="none" strike="noStrike" dirty="0">
                <a:solidFill>
                  <a:srgbClr val="53585F"/>
                </a:solidFill>
                <a:effectLst/>
                <a:latin typeface="Montserrat" panose="00000500000000000000" pitchFamily="2" charset="0"/>
              </a:rPr>
              <a:t>University College Dublin</a:t>
            </a:r>
            <a:endParaRPr lang="en-US" sz="1400" b="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6291B2-3702-823F-2507-6CD245428F43}"/>
              </a:ext>
            </a:extLst>
          </p:cNvPr>
          <p:cNvSpPr txBox="1"/>
          <p:nvPr/>
        </p:nvSpPr>
        <p:spPr>
          <a:xfrm>
            <a:off x="4274274" y="4446616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>
              <a:buNone/>
            </a:pPr>
            <a:r>
              <a:rPr lang="en-US" sz="1800" b="1" i="0" u="none" strike="noStrike" dirty="0">
                <a:effectLst/>
                <a:latin typeface="Montserrat" panose="00000500000000000000" pitchFamily="2" charset="0"/>
              </a:rPr>
              <a:t>David Kelly</a:t>
            </a:r>
          </a:p>
          <a:p>
            <a:pPr algn="r" rtl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6B0637-90A4-C7DE-481A-39531A58B04B}"/>
              </a:ext>
            </a:extLst>
          </p:cNvPr>
          <p:cNvSpPr txBox="1"/>
          <p:nvPr/>
        </p:nvSpPr>
        <p:spPr>
          <a:xfrm>
            <a:off x="7157522" y="4753745"/>
            <a:ext cx="16887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>
              <a:buNone/>
            </a:pPr>
            <a:r>
              <a:rPr lang="en-US" sz="1400" b="0" i="0" u="none" strike="noStrike" dirty="0" err="1">
                <a:solidFill>
                  <a:schemeClr val="bg1">
                    <a:lumMod val="65000"/>
                  </a:schemeClr>
                </a:solidFill>
                <a:effectLst/>
                <a:latin typeface="Montserrat" panose="00000500000000000000" pitchFamily="2" charset="0"/>
              </a:rPr>
              <a:t>Chanikya</a:t>
            </a:r>
            <a:r>
              <a:rPr lang="en-US" sz="1400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Montserrat" panose="00000500000000000000" pitchFamily="2" charset="0"/>
              </a:rPr>
              <a:t> Valeti</a:t>
            </a:r>
          </a:p>
          <a:p>
            <a:pPr algn="r" rtl="0">
              <a:buNone/>
            </a:pPr>
            <a:r>
              <a:rPr lang="en-US" sz="1400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Montserrat" panose="00000500000000000000" pitchFamily="2" charset="0"/>
              </a:rPr>
              <a:t>Philip Cardiff</a:t>
            </a:r>
          </a:p>
        </p:txBody>
      </p:sp>
      <p:pic>
        <p:nvPicPr>
          <p:cNvPr id="8" name="Picture 7" descr="A red and blue heart with text&#10;&#10;AI-generated content may be incorrect.">
            <a:extLst>
              <a:ext uri="{FF2B5EF4-FFF2-40B4-BE49-F238E27FC236}">
                <a16:creationId xmlns:a16="http://schemas.microsoft.com/office/drawing/2014/main" id="{BB6187D0-BA6F-E119-C6DF-CD6A72C000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407" y="5225997"/>
            <a:ext cx="2778388" cy="1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906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2383D1-AB2F-88D5-CBD3-8066E60CA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416" y="879232"/>
            <a:ext cx="1375646" cy="3429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3AD5BD-BE25-DEB6-2F39-E68F77477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018" y="4791362"/>
            <a:ext cx="2542442" cy="1323339"/>
          </a:xfrm>
          <a:prstGeom prst="rect">
            <a:avLst/>
          </a:prstGeom>
        </p:spPr>
      </p:pic>
      <p:pic>
        <p:nvPicPr>
          <p:cNvPr id="18" name="Picture 17" descr="A screenshot of a medical information&#10;&#10;AI-generated content may be incorrect.">
            <a:extLst>
              <a:ext uri="{FF2B5EF4-FFF2-40B4-BE49-F238E27FC236}">
                <a16:creationId xmlns:a16="http://schemas.microsoft.com/office/drawing/2014/main" id="{E37254C3-26A7-9095-AA06-8384BFBC7D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86" y="1418400"/>
            <a:ext cx="6399332" cy="487538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F4A0FA0-7AA0-5B9A-6D00-EDED81F0ACA3}"/>
              </a:ext>
            </a:extLst>
          </p:cNvPr>
          <p:cNvSpPr/>
          <p:nvPr/>
        </p:nvSpPr>
        <p:spPr>
          <a:xfrm>
            <a:off x="0" y="0"/>
            <a:ext cx="9144000" cy="74329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000" dirty="0">
                <a:solidFill>
                  <a:schemeClr val="tx2">
                    <a:lumMod val="50000"/>
                  </a:schemeClr>
                </a:solidFill>
                <a:latin typeface="Montserrat" pitchFamily="2" charset="77"/>
                <a:cs typeface="Calibri" panose="020F0502020204030204" pitchFamily="34" charset="0"/>
              </a:rPr>
              <a:t>Background &amp; Motivation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C66974B-92AA-8D28-D7D0-90DDC2D6B094}"/>
              </a:ext>
            </a:extLst>
          </p:cNvPr>
          <p:cNvCxnSpPr/>
          <p:nvPr/>
        </p:nvCxnSpPr>
        <p:spPr>
          <a:xfrm flipH="1" flipV="1">
            <a:off x="6770077" y="2224357"/>
            <a:ext cx="764931" cy="28926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F70825F-BC94-F311-8CAF-7CA9ED41CEED}"/>
              </a:ext>
            </a:extLst>
          </p:cNvPr>
          <p:cNvCxnSpPr/>
          <p:nvPr/>
        </p:nvCxnSpPr>
        <p:spPr>
          <a:xfrm flipV="1">
            <a:off x="6770077" y="1907931"/>
            <a:ext cx="764931" cy="316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532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18F16-C809-FC9B-7770-9069EF043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C8B8DE2-3A5A-8936-5FD5-BDC09601CF50}"/>
              </a:ext>
            </a:extLst>
          </p:cNvPr>
          <p:cNvSpPr/>
          <p:nvPr/>
        </p:nvSpPr>
        <p:spPr>
          <a:xfrm>
            <a:off x="0" y="0"/>
            <a:ext cx="9144000" cy="74329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000" dirty="0">
                <a:solidFill>
                  <a:schemeClr val="tx2">
                    <a:lumMod val="50000"/>
                  </a:schemeClr>
                </a:solidFill>
                <a:latin typeface="Montserrat" pitchFamily="2" charset="77"/>
                <a:cs typeface="Calibri" panose="020F0502020204030204" pitchFamily="34" charset="0"/>
              </a:rPr>
              <a:t>Completely Lumped System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FD4CC8-1822-6F45-0F5D-9E5A2A824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" y="1461218"/>
            <a:ext cx="4324350" cy="4290075"/>
          </a:xfrm>
          <a:prstGeom prst="rect">
            <a:avLst/>
          </a:prstGeom>
        </p:spPr>
      </p:pic>
      <p:pic>
        <p:nvPicPr>
          <p:cNvPr id="7" name="Picture 6" descr="Diagram of a diagram of a heart pulse&#10;&#10;AI-generated content may be incorrect.">
            <a:extLst>
              <a:ext uri="{FF2B5EF4-FFF2-40B4-BE49-F238E27FC236}">
                <a16:creationId xmlns:a16="http://schemas.microsoft.com/office/drawing/2014/main" id="{298E8957-355F-DEBB-1427-60F7600E2E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812" y="1623557"/>
            <a:ext cx="4847188" cy="377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350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black meshed arm&#10;&#10;AI-generated content may be incorrect.">
            <a:extLst>
              <a:ext uri="{FF2B5EF4-FFF2-40B4-BE49-F238E27FC236}">
                <a16:creationId xmlns:a16="http://schemas.microsoft.com/office/drawing/2014/main" id="{B3BBFFAE-B984-CB3A-67DD-1477C8E04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476" y="3644397"/>
            <a:ext cx="1265644" cy="184322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1DE1645-BECC-E3ED-368B-B0F505DA2F9B}"/>
              </a:ext>
            </a:extLst>
          </p:cNvPr>
          <p:cNvCxnSpPr>
            <a:cxnSpLocks/>
          </p:cNvCxnSpPr>
          <p:nvPr/>
        </p:nvCxnSpPr>
        <p:spPr>
          <a:xfrm>
            <a:off x="1103434" y="3830120"/>
            <a:ext cx="1841522" cy="0"/>
          </a:xfrm>
          <a:prstGeom prst="straightConnector1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90EB606-8C6B-71FB-E7BB-52CF257FB535}"/>
              </a:ext>
            </a:extLst>
          </p:cNvPr>
          <p:cNvCxnSpPr>
            <a:cxnSpLocks/>
          </p:cNvCxnSpPr>
          <p:nvPr/>
        </p:nvCxnSpPr>
        <p:spPr>
          <a:xfrm>
            <a:off x="1103434" y="2876194"/>
            <a:ext cx="592859" cy="1747"/>
          </a:xfrm>
          <a:prstGeom prst="straightConnector1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75E5141-32DA-08BD-2C38-EE90C58D7BA0}"/>
              </a:ext>
            </a:extLst>
          </p:cNvPr>
          <p:cNvCxnSpPr>
            <a:cxnSpLocks/>
          </p:cNvCxnSpPr>
          <p:nvPr/>
        </p:nvCxnSpPr>
        <p:spPr>
          <a:xfrm>
            <a:off x="2532291" y="2876194"/>
            <a:ext cx="918673" cy="0"/>
          </a:xfrm>
          <a:prstGeom prst="straightConnector1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63F1E76-D26E-2766-594E-1426071CB36A}"/>
              </a:ext>
            </a:extLst>
          </p:cNvPr>
          <p:cNvCxnSpPr>
            <a:cxnSpLocks/>
          </p:cNvCxnSpPr>
          <p:nvPr/>
        </p:nvCxnSpPr>
        <p:spPr>
          <a:xfrm>
            <a:off x="4457716" y="2876194"/>
            <a:ext cx="0" cy="770190"/>
          </a:xfrm>
          <a:prstGeom prst="straightConnector1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01ECFD0-EC28-DC7B-A3C9-0BFAF82E68E3}"/>
              </a:ext>
            </a:extLst>
          </p:cNvPr>
          <p:cNvCxnSpPr>
            <a:cxnSpLocks/>
          </p:cNvCxnSpPr>
          <p:nvPr/>
        </p:nvCxnSpPr>
        <p:spPr>
          <a:xfrm flipV="1">
            <a:off x="3310363" y="3646384"/>
            <a:ext cx="1158748" cy="27918"/>
          </a:xfrm>
          <a:prstGeom prst="straightConnector1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50E29A6-0F7A-1968-0C33-A2A10343A36C}"/>
              </a:ext>
            </a:extLst>
          </p:cNvPr>
          <p:cNvCxnSpPr>
            <a:cxnSpLocks/>
          </p:cNvCxnSpPr>
          <p:nvPr/>
        </p:nvCxnSpPr>
        <p:spPr>
          <a:xfrm flipH="1">
            <a:off x="3477467" y="3659349"/>
            <a:ext cx="64093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9CF549C-7159-A723-BFEB-B35BD6CC352C}"/>
              </a:ext>
            </a:extLst>
          </p:cNvPr>
          <p:cNvCxnSpPr>
            <a:cxnSpLocks/>
          </p:cNvCxnSpPr>
          <p:nvPr/>
        </p:nvCxnSpPr>
        <p:spPr>
          <a:xfrm flipH="1">
            <a:off x="1993555" y="3830120"/>
            <a:ext cx="64093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1FA682E-C077-8272-CF4E-8808B7358EE9}"/>
                  </a:ext>
                </a:extLst>
              </p:cNvPr>
              <p:cNvSpPr txBox="1"/>
              <p:nvPr/>
            </p:nvSpPr>
            <p:spPr>
              <a:xfrm>
                <a:off x="3450964" y="3687268"/>
                <a:ext cx="6409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E" sz="1400" i="1" dirty="0">
                              <a:latin typeface="Cambria Math" panose="02040503050406030204" pitchFamily="18" charset="0"/>
                            </a:rPr>
                            <m:t>𝑚𝑣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E" sz="1400" i="1" dirty="0">
                              <a:latin typeface="Cambria Math" panose="02040503050406030204" pitchFamily="18" charset="0"/>
                            </a:rPr>
                            <m:t>𝑚𝑣</m:t>
                          </m:r>
                        </m:sub>
                      </m:sSub>
                    </m:oMath>
                  </m:oMathPara>
                </a14:m>
                <a:endParaRPr lang="en-IE" sz="1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1FA682E-C077-8272-CF4E-8808B7358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0964" y="3687268"/>
                <a:ext cx="64093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95BFD7A-6B9F-54C9-3D3B-DDFE07C95B45}"/>
                  </a:ext>
                </a:extLst>
              </p:cNvPr>
              <p:cNvSpPr txBox="1"/>
              <p:nvPr/>
            </p:nvSpPr>
            <p:spPr>
              <a:xfrm>
                <a:off x="2256195" y="3930017"/>
                <a:ext cx="6167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𝑎𝑣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𝑎𝑣</m:t>
                          </m:r>
                        </m:sub>
                      </m:sSub>
                    </m:oMath>
                  </m:oMathPara>
                </a14:m>
                <a:endParaRPr lang="en-IE" sz="1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95BFD7A-6B9F-54C9-3D3B-DDFE07C95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6195" y="3930017"/>
                <a:ext cx="61672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F30C54AC-D5C5-1956-038D-AB1BFDE84717}"/>
              </a:ext>
            </a:extLst>
          </p:cNvPr>
          <p:cNvSpPr/>
          <p:nvPr/>
        </p:nvSpPr>
        <p:spPr>
          <a:xfrm>
            <a:off x="2950282" y="2835000"/>
            <a:ext cx="82691" cy="67435"/>
          </a:xfrm>
          <a:prstGeom prst="ellipse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ADDDB8-5B6F-346A-7840-9EC7266A6F51}"/>
                  </a:ext>
                </a:extLst>
              </p:cNvPr>
              <p:cNvSpPr txBox="1"/>
              <p:nvPr/>
            </p:nvSpPr>
            <p:spPr>
              <a:xfrm>
                <a:off x="2741285" y="2208965"/>
                <a:ext cx="40734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𝑎𝑣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E" sz="1400" i="1" dirty="0">
                              <a:latin typeface="Cambria Math" panose="02040503050406030204" pitchFamily="18" charset="0"/>
                            </a:rPr>
                            <m:t>𝑚𝑣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ADDDB8-5B6F-346A-7840-9EC7266A6F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285" y="2208965"/>
                <a:ext cx="407342" cy="523220"/>
              </a:xfrm>
              <a:prstGeom prst="rect">
                <a:avLst/>
              </a:prstGeom>
              <a:blipFill>
                <a:blip r:embed="rId5"/>
                <a:stretch>
                  <a:fillRect r="-6061"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555187-7908-D77F-447E-33CDFA507BA3}"/>
                  </a:ext>
                </a:extLst>
              </p:cNvPr>
              <p:cNvSpPr txBox="1"/>
              <p:nvPr/>
            </p:nvSpPr>
            <p:spPr>
              <a:xfrm>
                <a:off x="3268614" y="2187060"/>
                <a:ext cx="16995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E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𝑎𝑣</m:t>
                          </m:r>
                        </m:sub>
                      </m:sSub>
                      <m:r>
                        <a:rPr lang="en-IE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IE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E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𝑚𝑣</m:t>
                          </m:r>
                        </m:sub>
                      </m:sSub>
                      <m:r>
                        <a:rPr lang="en-IE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E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E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𝑚𝑣</m:t>
                          </m:r>
                        </m:sub>
                      </m:sSub>
                      <m:r>
                        <a:rPr lang="en-IE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555187-7908-D77F-447E-33CDFA507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614" y="2187060"/>
                <a:ext cx="1699575" cy="307777"/>
              </a:xfrm>
              <a:prstGeom prst="rect">
                <a:avLst/>
              </a:prstGeom>
              <a:blipFill>
                <a:blip r:embed="rId6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0A47D6-81F6-F4A6-F150-432BE5C735FC}"/>
                  </a:ext>
                </a:extLst>
              </p:cNvPr>
              <p:cNvSpPr txBox="1"/>
              <p:nvPr/>
            </p:nvSpPr>
            <p:spPr>
              <a:xfrm>
                <a:off x="-244469" y="1703919"/>
                <a:ext cx="2567765" cy="1337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𝑎𝑣</m:t>
                          </m:r>
                        </m:sub>
                      </m:sSub>
                      <m:r>
                        <a:rPr lang="en-IE" sz="1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E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E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E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d>
                        <m:dPr>
                          <m:ctrlPr>
                            <a:rPr lang="en-I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I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E" sz="1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E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E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E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E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IE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IE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E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𝑎𝑣</m:t>
                          </m:r>
                        </m:sub>
                      </m:sSub>
                      <m:r>
                        <a:rPr lang="en-IE" sz="1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E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𝑚𝑣</m:t>
                          </m:r>
                        </m:sub>
                      </m:sSub>
                    </m:oMath>
                  </m:oMathPara>
                </a14:m>
                <a:endParaRPr lang="en-IE" sz="1400" dirty="0"/>
              </a:p>
              <a:p>
                <a:endParaRPr lang="en-IE" sz="1400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0A47D6-81F6-F4A6-F150-432BE5C73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4469" y="1703919"/>
                <a:ext cx="2567765" cy="1337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 descr="A black zigzag line&#10;&#10;AI-generated content may be incorrect.">
            <a:extLst>
              <a:ext uri="{FF2B5EF4-FFF2-40B4-BE49-F238E27FC236}">
                <a16:creationId xmlns:a16="http://schemas.microsoft.com/office/drawing/2014/main" id="{F6A2C70B-DAEE-A2D0-3360-EDC5CAF3AB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7491" y="2649125"/>
            <a:ext cx="1010225" cy="454138"/>
          </a:xfrm>
          <a:prstGeom prst="rect">
            <a:avLst/>
          </a:prstGeom>
        </p:spPr>
      </p:pic>
      <p:pic>
        <p:nvPicPr>
          <p:cNvPr id="18" name="Picture 17" descr="A black line drawing of a computer&#10;&#10;AI-generated content may be incorrect.">
            <a:extLst>
              <a:ext uri="{FF2B5EF4-FFF2-40B4-BE49-F238E27FC236}">
                <a16:creationId xmlns:a16="http://schemas.microsoft.com/office/drawing/2014/main" id="{2D3DFE76-4287-1A84-4AF0-E13E0CACA8B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68532" y="2520460"/>
            <a:ext cx="965237" cy="1104029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91857E4-3191-E5CC-B108-73B30C968DE4}"/>
              </a:ext>
            </a:extLst>
          </p:cNvPr>
          <p:cNvCxnSpPr>
            <a:cxnSpLocks/>
          </p:cNvCxnSpPr>
          <p:nvPr/>
        </p:nvCxnSpPr>
        <p:spPr>
          <a:xfrm>
            <a:off x="1103435" y="2876194"/>
            <a:ext cx="0" cy="953926"/>
          </a:xfrm>
          <a:prstGeom prst="straightConnector1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A9ACFB1-EFCC-ED8B-636B-296F6F1CC7AF}"/>
              </a:ext>
            </a:extLst>
          </p:cNvPr>
          <p:cNvSpPr/>
          <p:nvPr/>
        </p:nvSpPr>
        <p:spPr>
          <a:xfrm>
            <a:off x="0" y="0"/>
            <a:ext cx="9144000" cy="74329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000" dirty="0">
                <a:solidFill>
                  <a:schemeClr val="tx2">
                    <a:lumMod val="50000"/>
                  </a:schemeClr>
                </a:solidFill>
                <a:latin typeface="Montserrat" pitchFamily="2" charset="77"/>
                <a:cs typeface="Calibri" panose="020F0502020204030204" pitchFamily="34" charset="0"/>
              </a:rPr>
              <a:t>Coupling 3D Ventricle to 0D Circulation</a:t>
            </a:r>
          </a:p>
        </p:txBody>
      </p:sp>
      <p:pic>
        <p:nvPicPr>
          <p:cNvPr id="27" name="Picture 26" descr="A screenshot of a white board with black text&#10;&#10;AI-generated content may be incorrect.">
            <a:extLst>
              <a:ext uri="{FF2B5EF4-FFF2-40B4-BE49-F238E27FC236}">
                <a16:creationId xmlns:a16="http://schemas.microsoft.com/office/drawing/2014/main" id="{EF81DB77-ED7F-6A9C-169E-4FA8662D37A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0524" y="1332027"/>
            <a:ext cx="4160721" cy="372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345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433D4B2-57FD-5BF0-A4DB-A73416F71C74}"/>
              </a:ext>
            </a:extLst>
          </p:cNvPr>
          <p:cNvSpPr/>
          <p:nvPr/>
        </p:nvSpPr>
        <p:spPr>
          <a:xfrm>
            <a:off x="0" y="0"/>
            <a:ext cx="9144000" cy="74329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000" dirty="0">
                <a:solidFill>
                  <a:schemeClr val="tx2">
                    <a:lumMod val="50000"/>
                  </a:schemeClr>
                </a:solidFill>
                <a:latin typeface="Montserrat" pitchFamily="2" charset="77"/>
                <a:cs typeface="Calibri" panose="020F0502020204030204" pitchFamily="34" charset="0"/>
              </a:rPr>
              <a:t>Discretisation and Verifying Closed Loop</a:t>
            </a:r>
          </a:p>
        </p:txBody>
      </p:sp>
      <p:pic>
        <p:nvPicPr>
          <p:cNvPr id="8" name="Picture 7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DD1051D9-38D7-7642-46B0-63ACFDA812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837892"/>
            <a:ext cx="4042800" cy="3156039"/>
          </a:xfrm>
          <a:prstGeom prst="rect">
            <a:avLst/>
          </a:prstGeom>
        </p:spPr>
      </p:pic>
      <p:pic>
        <p:nvPicPr>
          <p:cNvPr id="10" name="volume_change_checkMesh_cursor.mp4">
            <a:hlinkClick r:id="" action="ppaction://media"/>
            <a:extLst>
              <a:ext uri="{FF2B5EF4-FFF2-40B4-BE49-F238E27FC236}">
                <a16:creationId xmlns:a16="http://schemas.microsoft.com/office/drawing/2014/main" id="{D1FD3A35-F2B8-11E6-7B65-C23008A343D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042799" y="2910253"/>
            <a:ext cx="5101200" cy="3825900"/>
          </a:xfrm>
          <a:prstGeom prst="rect">
            <a:avLst/>
          </a:prstGeom>
        </p:spPr>
      </p:pic>
      <p:pic>
        <p:nvPicPr>
          <p:cNvPr id="12" name="Screen Recording 2026-01-22 at 11.15.35.mov">
            <a:hlinkClick r:id="" action="ppaction://media"/>
            <a:extLst>
              <a:ext uri="{FF2B5EF4-FFF2-40B4-BE49-F238E27FC236}">
                <a16:creationId xmlns:a16="http://schemas.microsoft.com/office/drawing/2014/main" id="{C4266235-5952-79CD-336F-92FE644D8940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rcRect l="18294" t="8750" r="22673" b="6944"/>
          <a:stretch>
            <a:fillRect/>
          </a:stretch>
        </p:blipFill>
        <p:spPr>
          <a:xfrm>
            <a:off x="1235437" y="3993931"/>
            <a:ext cx="1446216" cy="2522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75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6" repeatCount="indefinite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17" repeatCount="0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B7C7E-D723-3FE5-F005-D168F97DB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6B5CD91-7539-83D6-F41A-48B2A72D1879}"/>
              </a:ext>
            </a:extLst>
          </p:cNvPr>
          <p:cNvSpPr/>
          <p:nvPr/>
        </p:nvSpPr>
        <p:spPr>
          <a:xfrm>
            <a:off x="0" y="0"/>
            <a:ext cx="9144000" cy="74329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000" dirty="0">
                <a:solidFill>
                  <a:schemeClr val="tx2">
                    <a:lumMod val="50000"/>
                  </a:schemeClr>
                </a:solidFill>
                <a:latin typeface="Montserrat" pitchFamily="2" charset="77"/>
                <a:cs typeface="Calibri" panose="020F0502020204030204" pitchFamily="34" charset="0"/>
              </a:rPr>
              <a:t>3D Moving Left Ventricle</a:t>
            </a:r>
          </a:p>
        </p:txBody>
      </p:sp>
      <p:pic>
        <p:nvPicPr>
          <p:cNvPr id="2" name="Screen Recording 2026-01-22 at 11.15.35.mov">
            <a:hlinkClick r:id="" action="ppaction://media"/>
            <a:extLst>
              <a:ext uri="{FF2B5EF4-FFF2-40B4-BE49-F238E27FC236}">
                <a16:creationId xmlns:a16="http://schemas.microsoft.com/office/drawing/2014/main" id="{88D6E00B-AE62-019A-48E2-3D43C1A768E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18294" t="8750" r="22673" b="6944"/>
          <a:stretch>
            <a:fillRect/>
          </a:stretch>
        </p:blipFill>
        <p:spPr>
          <a:xfrm>
            <a:off x="736339" y="2133914"/>
            <a:ext cx="2206557" cy="38487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2AAC2C-933E-8580-BE87-222B299B1F29}"/>
              </a:ext>
            </a:extLst>
          </p:cNvPr>
          <p:cNvSpPr txBox="1"/>
          <p:nvPr/>
        </p:nvSpPr>
        <p:spPr>
          <a:xfrm>
            <a:off x="3006969" y="-9495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8" name="volume_change_checkMesh_cursor.mp4">
            <a:hlinkClick r:id="" action="ppaction://media"/>
            <a:extLst>
              <a:ext uri="{FF2B5EF4-FFF2-40B4-BE49-F238E27FC236}">
                <a16:creationId xmlns:a16="http://schemas.microsoft.com/office/drawing/2014/main" id="{38AC5698-4E78-5B93-C1FD-3C3E3B48EFF8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849370" y="1705707"/>
            <a:ext cx="5101200" cy="382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270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48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8067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repeatCount="0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video>
              <p:cMediaNode vol="80000">
                <p:cTn id="10" repeatCount="0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black meshed arm&#10;&#10;AI-generated content may be incorrect.">
            <a:extLst>
              <a:ext uri="{FF2B5EF4-FFF2-40B4-BE49-F238E27FC236}">
                <a16:creationId xmlns:a16="http://schemas.microsoft.com/office/drawing/2014/main" id="{B3BBFFAE-B984-CB3A-67DD-1477C8E04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199" y="2428875"/>
            <a:ext cx="1265644" cy="1843220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50E29A6-0F7A-1968-0C33-A2A10343A36C}"/>
              </a:ext>
            </a:extLst>
          </p:cNvPr>
          <p:cNvCxnSpPr>
            <a:cxnSpLocks/>
          </p:cNvCxnSpPr>
          <p:nvPr/>
        </p:nvCxnSpPr>
        <p:spPr>
          <a:xfrm flipH="1">
            <a:off x="1921705" y="2651734"/>
            <a:ext cx="640934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9CF549C-7159-A723-BFEB-B35BD6CC352C}"/>
              </a:ext>
            </a:extLst>
          </p:cNvPr>
          <p:cNvCxnSpPr>
            <a:cxnSpLocks/>
          </p:cNvCxnSpPr>
          <p:nvPr/>
        </p:nvCxnSpPr>
        <p:spPr>
          <a:xfrm flipH="1">
            <a:off x="3354436" y="2470975"/>
            <a:ext cx="640934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1FA682E-C077-8272-CF4E-8808B7358EE9}"/>
                  </a:ext>
                </a:extLst>
              </p:cNvPr>
              <p:cNvSpPr txBox="1"/>
              <p:nvPr/>
            </p:nvSpPr>
            <p:spPr>
              <a:xfrm>
                <a:off x="3242741" y="2609435"/>
                <a:ext cx="640934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35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E" sz="1350" i="1" dirty="0">
                              <a:latin typeface="Cambria Math" panose="02040503050406030204" pitchFamily="18" charset="0"/>
                            </a:rPr>
                            <m:t>𝑚𝑣</m:t>
                          </m:r>
                        </m:sub>
                      </m:sSub>
                    </m:oMath>
                  </m:oMathPara>
                </a14:m>
                <a:endParaRPr lang="en-US" sz="135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35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E" sz="1350" i="1" dirty="0">
                              <a:latin typeface="Cambria Math" panose="02040503050406030204" pitchFamily="18" charset="0"/>
                            </a:rPr>
                            <m:t>𝑚𝑣</m:t>
                          </m:r>
                        </m:sub>
                      </m:sSub>
                    </m:oMath>
                  </m:oMathPara>
                </a14:m>
                <a:endParaRPr lang="en-IE" sz="135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1FA682E-C077-8272-CF4E-8808B7358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741" y="2609435"/>
                <a:ext cx="640934" cy="5078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95BFD7A-6B9F-54C9-3D3B-DDFE07C95B45}"/>
                  </a:ext>
                </a:extLst>
              </p:cNvPr>
              <p:cNvSpPr txBox="1"/>
              <p:nvPr/>
            </p:nvSpPr>
            <p:spPr>
              <a:xfrm>
                <a:off x="2009291" y="2793571"/>
                <a:ext cx="616725" cy="507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35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E" sz="1350" i="1">
                              <a:latin typeface="Cambria Math" panose="02040503050406030204" pitchFamily="18" charset="0"/>
                            </a:rPr>
                            <m:t>𝑎𝑣</m:t>
                          </m:r>
                        </m:sub>
                      </m:sSub>
                    </m:oMath>
                  </m:oMathPara>
                </a14:m>
                <a:endParaRPr lang="en-US" sz="135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35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E" sz="1350" i="1">
                              <a:latin typeface="Cambria Math" panose="02040503050406030204" pitchFamily="18" charset="0"/>
                            </a:rPr>
                            <m:t>𝑎𝑣</m:t>
                          </m:r>
                        </m:sub>
                      </m:sSub>
                    </m:oMath>
                  </m:oMathPara>
                </a14:m>
                <a:endParaRPr lang="en-IE" sz="135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95BFD7A-6B9F-54C9-3D3B-DDFE07C95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291" y="2793571"/>
                <a:ext cx="616725" cy="5078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555187-7908-D77F-447E-33CDFA507BA3}"/>
                  </a:ext>
                </a:extLst>
              </p:cNvPr>
              <p:cNvSpPr txBox="1"/>
              <p:nvPr/>
            </p:nvSpPr>
            <p:spPr>
              <a:xfrm>
                <a:off x="168727" y="4184183"/>
                <a:ext cx="3679908" cy="2297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IE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sz="1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E" sz="1400" i="1">
                                <a:latin typeface="Cambria Math" panose="02040503050406030204" pitchFamily="18" charset="0"/>
                              </a:rPr>
                              <m:t>𝑎𝑣</m:t>
                            </m:r>
                          </m:sub>
                        </m:sSub>
                      </m:num>
                      <m:den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E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E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I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sz="1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E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E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𝑎𝑣</m:t>
                        </m:r>
                      </m:sub>
                    </m:sSub>
                    <m:r>
                      <a:rPr lang="en-IE" sz="1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E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E" sz="1400" i="1" dirty="0">
                  <a:latin typeface="Cambria Math" panose="02040503050406030204" pitchFamily="18" charset="0"/>
                </a:endParaRPr>
              </a:p>
              <a:p>
                <a:pPr algn="ctr"/>
                <a:endParaRPr lang="en-IE" sz="1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sz="14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IE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E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I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IE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𝑎𝑣</m:t>
                        </m:r>
                      </m:sub>
                    </m:sSub>
                    <m:r>
                      <a:rPr lang="en-IE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E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/>
                  <a:t>)</a:t>
                </a:r>
              </a:p>
              <a:p>
                <a:pPr algn="ctr"/>
                <a:endParaRPr lang="en-US" sz="1400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IE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sz="1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E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E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E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I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sz="1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E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E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E" sz="1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𝑚𝑣</m:t>
                        </m:r>
                      </m:sub>
                    </m:sSub>
                    <m:r>
                      <a:rPr lang="en-IE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E" sz="1400" i="1" dirty="0">
                  <a:latin typeface="Cambria Math" panose="02040503050406030204" pitchFamily="18" charset="0"/>
                </a:endParaRPr>
              </a:p>
              <a:p>
                <a:pPr algn="ctr"/>
                <a:endParaRPr lang="en-US" sz="1400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sz="14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IE" sz="1400" i="1">
                                <a:latin typeface="Cambria Math" panose="02040503050406030204" pitchFamily="18" charset="0"/>
                              </a:rPr>
                              <m:t>𝑚𝑣</m:t>
                            </m:r>
                          </m:sub>
                        </m:sSub>
                      </m:num>
                      <m:den>
                        <m: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E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I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IE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E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𝑚𝑣</m:t>
                        </m:r>
                      </m:sub>
                    </m:sSub>
                    <m:r>
                      <a:rPr lang="en-IE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𝑚𝑣</m:t>
                        </m:r>
                      </m:sub>
                    </m:sSub>
                    <m:sSub>
                      <m:sSubPr>
                        <m:ctrlP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/>
                  <a:t>)</a:t>
                </a:r>
              </a:p>
              <a:p>
                <a:pPr algn="ctr"/>
                <a:endParaRPr lang="en-US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555187-7908-D77F-447E-33CDFA507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727" y="4184183"/>
                <a:ext cx="3679908" cy="22972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 descr="A black zigzag line&#10;&#10;AI-generated content may be incorrect.">
            <a:extLst>
              <a:ext uri="{FF2B5EF4-FFF2-40B4-BE49-F238E27FC236}">
                <a16:creationId xmlns:a16="http://schemas.microsoft.com/office/drawing/2014/main" id="{F6A2C70B-DAEE-A2D0-3360-EDC5CAF3AB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6689" y="1042806"/>
            <a:ext cx="1014014" cy="454138"/>
          </a:xfrm>
          <a:prstGeom prst="rect">
            <a:avLst/>
          </a:prstGeom>
        </p:spPr>
      </p:pic>
      <p:pic>
        <p:nvPicPr>
          <p:cNvPr id="18" name="Picture 17" descr="A black line drawing of a computer&#10;&#10;AI-generated content may be incorrect.">
            <a:extLst>
              <a:ext uri="{FF2B5EF4-FFF2-40B4-BE49-F238E27FC236}">
                <a16:creationId xmlns:a16="http://schemas.microsoft.com/office/drawing/2014/main" id="{2D3DFE76-4287-1A84-4AF0-E13E0CACA8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841" y="921121"/>
            <a:ext cx="965237" cy="1104029"/>
          </a:xfrm>
          <a:prstGeom prst="rect">
            <a:avLst/>
          </a:prstGeom>
        </p:spPr>
      </p:pic>
      <p:pic>
        <p:nvPicPr>
          <p:cNvPr id="38" name="Picture 37" descr="A black spiral with a white background&#10;&#10;AI-generated content may be incorrect.">
            <a:extLst>
              <a:ext uri="{FF2B5EF4-FFF2-40B4-BE49-F238E27FC236}">
                <a16:creationId xmlns:a16="http://schemas.microsoft.com/office/drawing/2014/main" id="{7D656109-5863-3E48-4EA1-05503F5389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4378" y="1010932"/>
            <a:ext cx="1104900" cy="495300"/>
          </a:xfrm>
          <a:prstGeom prst="rect">
            <a:avLst/>
          </a:prstGeom>
        </p:spPr>
      </p:pic>
      <p:pic>
        <p:nvPicPr>
          <p:cNvPr id="54" name="Picture 53" descr="A black line drawing of a computer&#10;&#10;AI-generated content may be incorrect.">
            <a:extLst>
              <a:ext uri="{FF2B5EF4-FFF2-40B4-BE49-F238E27FC236}">
                <a16:creationId xmlns:a16="http://schemas.microsoft.com/office/drawing/2014/main" id="{C91E2A08-C67A-80C1-60B7-652D0119BB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6017" y="921121"/>
            <a:ext cx="965237" cy="1104029"/>
          </a:xfrm>
          <a:prstGeom prst="rect">
            <a:avLst/>
          </a:prstGeom>
        </p:spPr>
      </p:pic>
      <p:pic>
        <p:nvPicPr>
          <p:cNvPr id="55" name="Picture 54" descr="A black spiral with a white background&#10;&#10;AI-generated content may be incorrect.">
            <a:extLst>
              <a:ext uri="{FF2B5EF4-FFF2-40B4-BE49-F238E27FC236}">
                <a16:creationId xmlns:a16="http://schemas.microsoft.com/office/drawing/2014/main" id="{B614D9AD-34C7-73B8-2B29-EB9F154F01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1254" y="1010932"/>
            <a:ext cx="1104900" cy="495300"/>
          </a:xfrm>
          <a:prstGeom prst="rect">
            <a:avLst/>
          </a:prstGeom>
        </p:spPr>
      </p:pic>
      <p:pic>
        <p:nvPicPr>
          <p:cNvPr id="56" name="Picture 55" descr="A black zigzag line&#10;&#10;AI-generated content may be incorrect.">
            <a:extLst>
              <a:ext uri="{FF2B5EF4-FFF2-40B4-BE49-F238E27FC236}">
                <a16:creationId xmlns:a16="http://schemas.microsoft.com/office/drawing/2014/main" id="{A0911AE9-D521-C713-0159-FDD3520A90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2691" y="1042806"/>
            <a:ext cx="1014014" cy="454138"/>
          </a:xfrm>
          <a:prstGeom prst="rect">
            <a:avLst/>
          </a:prstGeo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4BFE644-E7D8-BFB6-C1BC-4F7FF75E3744}"/>
              </a:ext>
            </a:extLst>
          </p:cNvPr>
          <p:cNvCxnSpPr>
            <a:cxnSpLocks/>
          </p:cNvCxnSpPr>
          <p:nvPr/>
        </p:nvCxnSpPr>
        <p:spPr>
          <a:xfrm>
            <a:off x="345841" y="1269875"/>
            <a:ext cx="0" cy="1381859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E58E4AB-373E-393A-58C5-6541A76C6BF8}"/>
              </a:ext>
            </a:extLst>
          </p:cNvPr>
          <p:cNvCxnSpPr>
            <a:cxnSpLocks/>
          </p:cNvCxnSpPr>
          <p:nvPr/>
        </p:nvCxnSpPr>
        <p:spPr>
          <a:xfrm>
            <a:off x="6386705" y="1269874"/>
            <a:ext cx="0" cy="12111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8CF5D7E-B4F5-8D73-88E2-04D91D6AAFAC}"/>
              </a:ext>
            </a:extLst>
          </p:cNvPr>
          <p:cNvCxnSpPr>
            <a:cxnSpLocks/>
          </p:cNvCxnSpPr>
          <p:nvPr/>
        </p:nvCxnSpPr>
        <p:spPr>
          <a:xfrm flipH="1">
            <a:off x="345841" y="2651734"/>
            <a:ext cx="2280176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4B01FC7-2976-395B-739D-0FFADA44ECFD}"/>
              </a:ext>
            </a:extLst>
          </p:cNvPr>
          <p:cNvCxnSpPr>
            <a:cxnSpLocks/>
          </p:cNvCxnSpPr>
          <p:nvPr/>
        </p:nvCxnSpPr>
        <p:spPr>
          <a:xfrm flipH="1" flipV="1">
            <a:off x="3124748" y="2470975"/>
            <a:ext cx="3272030" cy="2014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6E4BEC91-579C-879A-50A5-CDE530A1CD23}"/>
              </a:ext>
            </a:extLst>
          </p:cNvPr>
          <p:cNvSpPr/>
          <p:nvPr/>
        </p:nvSpPr>
        <p:spPr>
          <a:xfrm>
            <a:off x="1246487" y="1238779"/>
            <a:ext cx="92477" cy="6219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C53647A-69FD-D936-5966-8AA0E2E3DE6D}"/>
              </a:ext>
            </a:extLst>
          </p:cNvPr>
          <p:cNvSpPr/>
          <p:nvPr/>
        </p:nvSpPr>
        <p:spPr>
          <a:xfrm>
            <a:off x="3319778" y="1251771"/>
            <a:ext cx="92477" cy="6219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3BF54C35-FAF0-25CD-477B-EDA546EDC09B}"/>
              </a:ext>
            </a:extLst>
          </p:cNvPr>
          <p:cNvSpPr/>
          <p:nvPr/>
        </p:nvSpPr>
        <p:spPr>
          <a:xfrm>
            <a:off x="4276472" y="1246310"/>
            <a:ext cx="92477" cy="6219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DC93016-2D74-E647-E066-0EEA61A8BD43}"/>
                  </a:ext>
                </a:extLst>
              </p:cNvPr>
              <p:cNvSpPr txBox="1"/>
              <p:nvPr/>
            </p:nvSpPr>
            <p:spPr>
              <a:xfrm>
                <a:off x="4152935" y="1379809"/>
                <a:ext cx="510988" cy="507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35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E" sz="135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E" sz="135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35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E" sz="1350" i="1" dirty="0">
                              <a:latin typeface="Cambria Math" panose="02040503050406030204" pitchFamily="18" charset="0"/>
                            </a:rPr>
                            <m:t>𝑚𝑣</m:t>
                          </m:r>
                        </m:sub>
                      </m:sSub>
                    </m:oMath>
                  </m:oMathPara>
                </a14:m>
                <a:endParaRPr lang="en-IE" sz="1350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DC93016-2D74-E647-E066-0EEA61A8B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935" y="1379809"/>
                <a:ext cx="510988" cy="507831"/>
              </a:xfrm>
              <a:prstGeom prst="rect">
                <a:avLst/>
              </a:prstGeom>
              <a:blipFill>
                <a:blip r:embed="rId9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0202B19A-82D6-0294-3CB5-D8341255BD3F}"/>
                  </a:ext>
                </a:extLst>
              </p:cNvPr>
              <p:cNvSpPr txBox="1"/>
              <p:nvPr/>
            </p:nvSpPr>
            <p:spPr>
              <a:xfrm>
                <a:off x="3029383" y="1385677"/>
                <a:ext cx="640934" cy="507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35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E" sz="135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E" sz="135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35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E" sz="135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E" sz="135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0202B19A-82D6-0294-3CB5-D8341255B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9383" y="1385677"/>
                <a:ext cx="640934" cy="507831"/>
              </a:xfrm>
              <a:prstGeom prst="rect">
                <a:avLst/>
              </a:prstGeom>
              <a:blipFill>
                <a:blip r:embed="rId10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72A35B0-7D5C-E66A-E604-FF2B4698218E}"/>
                  </a:ext>
                </a:extLst>
              </p:cNvPr>
              <p:cNvSpPr txBox="1"/>
              <p:nvPr/>
            </p:nvSpPr>
            <p:spPr>
              <a:xfrm>
                <a:off x="994114" y="1334776"/>
                <a:ext cx="782585" cy="507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35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E" sz="1350" i="1">
                              <a:latin typeface="Cambria Math" panose="02040503050406030204" pitchFamily="18" charset="0"/>
                            </a:rPr>
                            <m:t>𝑎𝑣</m:t>
                          </m:r>
                        </m:sub>
                      </m:sSub>
                    </m:oMath>
                  </m:oMathPara>
                </a14:m>
                <a:endParaRPr lang="en-IE" sz="135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35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E" sz="135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E" sz="135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72A35B0-7D5C-E66A-E604-FF2B46982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114" y="1334776"/>
                <a:ext cx="782585" cy="507831"/>
              </a:xfrm>
              <a:prstGeom prst="rect">
                <a:avLst/>
              </a:prstGeom>
              <a:blipFill>
                <a:blip r:embed="rId11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C9DE5720-DC19-A293-0BB9-88B11F614F02}"/>
                  </a:ext>
                </a:extLst>
              </p:cNvPr>
              <p:cNvSpPr txBox="1"/>
              <p:nvPr/>
            </p:nvSpPr>
            <p:spPr>
              <a:xfrm>
                <a:off x="573880" y="1113271"/>
                <a:ext cx="547665" cy="300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35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35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E" sz="135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5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C9DE5720-DC19-A293-0BB9-88B11F614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880" y="1113271"/>
                <a:ext cx="547665" cy="30008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A09BCC1-C3F9-5A77-CC4B-5A1F6E60C9F9}"/>
                  </a:ext>
                </a:extLst>
              </p:cNvPr>
              <p:cNvSpPr txBox="1"/>
              <p:nvPr/>
            </p:nvSpPr>
            <p:spPr>
              <a:xfrm>
                <a:off x="3586931" y="1092451"/>
                <a:ext cx="547665" cy="300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35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35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E" sz="135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35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A09BCC1-C3F9-5A77-CC4B-5A1F6E60C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931" y="1092451"/>
                <a:ext cx="547665" cy="30008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EF048764-9C52-3708-CC5F-A863FEA79CA3}"/>
                  </a:ext>
                </a:extLst>
              </p:cNvPr>
              <p:cNvSpPr txBox="1"/>
              <p:nvPr/>
            </p:nvSpPr>
            <p:spPr>
              <a:xfrm>
                <a:off x="1521151" y="886083"/>
                <a:ext cx="604136" cy="300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35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35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E" sz="135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EF048764-9C52-3708-CC5F-A863FEA79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1151" y="886083"/>
                <a:ext cx="604136" cy="30008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BD91FD7-A08C-5E0A-7875-6559A1C0DE83}"/>
                  </a:ext>
                </a:extLst>
              </p:cNvPr>
              <p:cNvSpPr txBox="1"/>
              <p:nvPr/>
            </p:nvSpPr>
            <p:spPr>
              <a:xfrm>
                <a:off x="4572751" y="866227"/>
                <a:ext cx="604136" cy="300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35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35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E" sz="135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35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BD91FD7-A08C-5E0A-7875-6559A1C0D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751" y="866227"/>
                <a:ext cx="604136" cy="30008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169C61F-A93D-2FB8-1C24-2C9ACE185DBC}"/>
                  </a:ext>
                </a:extLst>
              </p:cNvPr>
              <p:cNvSpPr txBox="1"/>
              <p:nvPr/>
            </p:nvSpPr>
            <p:spPr>
              <a:xfrm>
                <a:off x="2582398" y="843012"/>
                <a:ext cx="604136" cy="300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35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35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E" sz="135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5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169C61F-A93D-2FB8-1C24-2C9ACE185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2398" y="843012"/>
                <a:ext cx="604136" cy="30008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E5FD7E9-D82D-4DCE-7066-FACC4AB8A14F}"/>
                  </a:ext>
                </a:extLst>
              </p:cNvPr>
              <p:cNvSpPr txBox="1"/>
              <p:nvPr/>
            </p:nvSpPr>
            <p:spPr>
              <a:xfrm>
                <a:off x="5535197" y="856496"/>
                <a:ext cx="604136" cy="300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35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35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E" sz="135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E5FD7E9-D82D-4DCE-7066-FACC4AB8A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5197" y="856496"/>
                <a:ext cx="604136" cy="30008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AD8EDD68-1601-1C7D-A92B-31E2D3613A6D}"/>
              </a:ext>
            </a:extLst>
          </p:cNvPr>
          <p:cNvSpPr/>
          <p:nvPr/>
        </p:nvSpPr>
        <p:spPr>
          <a:xfrm>
            <a:off x="0" y="0"/>
            <a:ext cx="9144000" cy="74329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000" dirty="0">
                <a:solidFill>
                  <a:schemeClr val="tx2">
                    <a:lumMod val="50000"/>
                  </a:schemeClr>
                </a:solidFill>
                <a:latin typeface="Montserrat" pitchFamily="2" charset="77"/>
                <a:cs typeface="Calibri" panose="020F0502020204030204" pitchFamily="34" charset="0"/>
              </a:rPr>
              <a:t>Coupling to a CLR System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15ACDF-1E3E-474E-8544-C5DDD429412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85880" y="2780837"/>
            <a:ext cx="4934189" cy="3700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12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black meshed arm&#10;&#10;AI-generated content may be incorrect.">
            <a:extLst>
              <a:ext uri="{FF2B5EF4-FFF2-40B4-BE49-F238E27FC236}">
                <a16:creationId xmlns:a16="http://schemas.microsoft.com/office/drawing/2014/main" id="{B3BBFFAE-B984-CB3A-67DD-1477C8E04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9084" y="2322409"/>
            <a:ext cx="1265644" cy="1843220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50E29A6-0F7A-1968-0C33-A2A10343A36C}"/>
              </a:ext>
            </a:extLst>
          </p:cNvPr>
          <p:cNvCxnSpPr>
            <a:cxnSpLocks/>
          </p:cNvCxnSpPr>
          <p:nvPr/>
        </p:nvCxnSpPr>
        <p:spPr>
          <a:xfrm flipH="1">
            <a:off x="4537590" y="2545268"/>
            <a:ext cx="640934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9CF549C-7159-A723-BFEB-B35BD6CC352C}"/>
              </a:ext>
            </a:extLst>
          </p:cNvPr>
          <p:cNvCxnSpPr>
            <a:cxnSpLocks/>
          </p:cNvCxnSpPr>
          <p:nvPr/>
        </p:nvCxnSpPr>
        <p:spPr>
          <a:xfrm flipH="1">
            <a:off x="5843853" y="2377416"/>
            <a:ext cx="640934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1FA682E-C077-8272-CF4E-8808B7358EE9}"/>
                  </a:ext>
                </a:extLst>
              </p:cNvPr>
              <p:cNvSpPr txBox="1"/>
              <p:nvPr/>
            </p:nvSpPr>
            <p:spPr>
              <a:xfrm>
                <a:off x="5858626" y="2502969"/>
                <a:ext cx="640934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35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E" sz="1350" i="1" dirty="0">
                              <a:latin typeface="Cambria Math" panose="02040503050406030204" pitchFamily="18" charset="0"/>
                            </a:rPr>
                            <m:t>𝑚𝑣</m:t>
                          </m:r>
                        </m:sub>
                      </m:sSub>
                    </m:oMath>
                  </m:oMathPara>
                </a14:m>
                <a:endParaRPr lang="en-US" sz="135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35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E" sz="1350" i="1" dirty="0">
                              <a:latin typeface="Cambria Math" panose="02040503050406030204" pitchFamily="18" charset="0"/>
                            </a:rPr>
                            <m:t>𝑚𝑣</m:t>
                          </m:r>
                        </m:sub>
                      </m:sSub>
                    </m:oMath>
                  </m:oMathPara>
                </a14:m>
                <a:endParaRPr lang="en-IE" sz="135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1FA682E-C077-8272-CF4E-8808B7358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8626" y="2502969"/>
                <a:ext cx="640934" cy="5078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95BFD7A-6B9F-54C9-3D3B-DDFE07C95B45}"/>
                  </a:ext>
                </a:extLst>
              </p:cNvPr>
              <p:cNvSpPr txBox="1"/>
              <p:nvPr/>
            </p:nvSpPr>
            <p:spPr>
              <a:xfrm>
                <a:off x="4625176" y="2687105"/>
                <a:ext cx="616725" cy="507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35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E" sz="1350" i="1">
                              <a:latin typeface="Cambria Math" panose="02040503050406030204" pitchFamily="18" charset="0"/>
                            </a:rPr>
                            <m:t>𝑎𝑣</m:t>
                          </m:r>
                        </m:sub>
                      </m:sSub>
                    </m:oMath>
                  </m:oMathPara>
                </a14:m>
                <a:endParaRPr lang="en-US" sz="135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35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E" sz="1350" i="1">
                              <a:latin typeface="Cambria Math" panose="02040503050406030204" pitchFamily="18" charset="0"/>
                            </a:rPr>
                            <m:t>𝑎𝑣</m:t>
                          </m:r>
                        </m:sub>
                      </m:sSub>
                    </m:oMath>
                  </m:oMathPara>
                </a14:m>
                <a:endParaRPr lang="en-IE" sz="135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95BFD7A-6B9F-54C9-3D3B-DDFE07C95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176" y="2687105"/>
                <a:ext cx="616725" cy="5078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555187-7908-D77F-447E-33CDFA507BA3}"/>
                  </a:ext>
                </a:extLst>
              </p:cNvPr>
              <p:cNvSpPr txBox="1"/>
              <p:nvPr/>
            </p:nvSpPr>
            <p:spPr>
              <a:xfrm>
                <a:off x="-128835" y="743884"/>
                <a:ext cx="3360870" cy="30301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IE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sz="1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E" sz="1400" i="1">
                                <a:latin typeface="Cambria Math" panose="02040503050406030204" pitchFamily="18" charset="0"/>
                              </a:rPr>
                              <m:t>𝑎𝑣</m:t>
                            </m:r>
                          </m:sub>
                        </m:sSub>
                      </m:num>
                      <m:den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E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E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I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sz="1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E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E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𝑎𝑣</m:t>
                        </m:r>
                      </m:sub>
                    </m:sSub>
                    <m:r>
                      <a:rPr lang="en-IE" sz="1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E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E" sz="1400" i="1" dirty="0">
                  <a:latin typeface="Cambria Math" panose="02040503050406030204" pitchFamily="18" charset="0"/>
                </a:endParaRPr>
              </a:p>
              <a:p>
                <a:pPr algn="ctr"/>
                <a:endParaRPr lang="en-IE" sz="1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sz="14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IE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E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I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IE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𝑎𝑣</m:t>
                        </m:r>
                      </m:sub>
                    </m:sSub>
                    <m:r>
                      <a:rPr lang="en-IE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E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/>
                  <a:t>)</a:t>
                </a:r>
              </a:p>
              <a:p>
                <a:pPr algn="ctr"/>
                <a:endParaRPr lang="en-US" sz="1400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IE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I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sz="1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E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E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E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I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sz="1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E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E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E" sz="1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E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E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E" sz="1400" i="1" dirty="0">
                  <a:latin typeface="Cambria Math" panose="02040503050406030204" pitchFamily="18" charset="0"/>
                </a:endParaRPr>
              </a:p>
              <a:p>
                <a:pPr algn="ctr"/>
                <a:endParaRPr lang="en-US" sz="1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E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I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E" sz="14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IE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IE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E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E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E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I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I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E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I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E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</m:t>
                          </m:r>
                          <m:r>
                            <a:rPr lang="en-IE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I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b>
                            <m:sSubPr>
                              <m:ctrlPr>
                                <a:rPr lang="en-I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𝑐h𝑎𝑚𝑏𝑒𝑟</m:t>
                              </m:r>
                            </m:sub>
                          </m:sSub>
                          <m:r>
                            <a:rPr lang="en-IE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I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I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E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E" sz="1400" dirty="0">
                  <a:ea typeface="Cambria Math" panose="02040503050406030204" pitchFamily="18" charset="0"/>
                </a:endParaRPr>
              </a:p>
              <a:p>
                <a:pPr algn="ctr"/>
                <a:endParaRPr lang="en-US" sz="1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I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E" sz="1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E" sz="1400" i="1">
                                  <a:latin typeface="Cambria Math" panose="02040503050406030204" pitchFamily="18" charset="0"/>
                                </a:rPr>
                                <m:t>𝑐h𝑎𝑚𝑏𝑒𝑟</m:t>
                              </m:r>
                            </m:sub>
                          </m:sSub>
                        </m:num>
                        <m:den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E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E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E" sz="1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E" sz="1400" i="1">
                          <a:latin typeface="Cambria Math" panose="02040503050406030204" pitchFamily="18" charset="0"/>
                        </a:rPr>
                        <m:t>𝐶𝑄</m:t>
                      </m:r>
                      <m:rad>
                        <m:radPr>
                          <m:degHide m:val="on"/>
                          <m:ctrlPr>
                            <a:rPr lang="en-IE" sz="1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IE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E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b>
                            <m:sSubPr>
                              <m:ctrlPr>
                                <a:rPr lang="en-I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E" sz="1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E" sz="1400" i="1">
                                  <a:latin typeface="Cambria Math" panose="02040503050406030204" pitchFamily="18" charset="0"/>
                                </a:rPr>
                                <m:t>𝑐h𝑎𝑚𝑏𝑒𝑟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n-US" sz="1400" dirty="0"/>
              </a:p>
              <a:p>
                <a:pPr algn="ctr"/>
                <a:endParaRPr lang="en-US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555187-7908-D77F-447E-33CDFA507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8835" y="743884"/>
                <a:ext cx="3360870" cy="30301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 descr="A black zigzag line&#10;&#10;AI-generated content may be incorrect.">
            <a:extLst>
              <a:ext uri="{FF2B5EF4-FFF2-40B4-BE49-F238E27FC236}">
                <a16:creationId xmlns:a16="http://schemas.microsoft.com/office/drawing/2014/main" id="{F6A2C70B-DAEE-A2D0-3360-EDC5CAF3AB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2574" y="936340"/>
            <a:ext cx="1014014" cy="454138"/>
          </a:xfrm>
          <a:prstGeom prst="rect">
            <a:avLst/>
          </a:prstGeom>
        </p:spPr>
      </p:pic>
      <p:pic>
        <p:nvPicPr>
          <p:cNvPr id="18" name="Picture 17" descr="A black line drawing of a computer&#10;&#10;AI-generated content may be incorrect.">
            <a:extLst>
              <a:ext uri="{FF2B5EF4-FFF2-40B4-BE49-F238E27FC236}">
                <a16:creationId xmlns:a16="http://schemas.microsoft.com/office/drawing/2014/main" id="{2D3DFE76-4287-1A84-4AF0-E13E0CACA8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61726" y="814655"/>
            <a:ext cx="965237" cy="1104029"/>
          </a:xfrm>
          <a:prstGeom prst="rect">
            <a:avLst/>
          </a:prstGeom>
        </p:spPr>
      </p:pic>
      <p:pic>
        <p:nvPicPr>
          <p:cNvPr id="38" name="Picture 37" descr="A black spiral with a white background&#10;&#10;AI-generated content may be incorrect.">
            <a:extLst>
              <a:ext uri="{FF2B5EF4-FFF2-40B4-BE49-F238E27FC236}">
                <a16:creationId xmlns:a16="http://schemas.microsoft.com/office/drawing/2014/main" id="{7D656109-5863-3E48-4EA1-05503F5389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0263" y="904466"/>
            <a:ext cx="1104900" cy="495300"/>
          </a:xfrm>
          <a:prstGeom prst="rect">
            <a:avLst/>
          </a:prstGeom>
        </p:spPr>
      </p:pic>
      <p:pic>
        <p:nvPicPr>
          <p:cNvPr id="54" name="Picture 53" descr="A black line drawing of a computer&#10;&#10;AI-generated content may be incorrect.">
            <a:extLst>
              <a:ext uri="{FF2B5EF4-FFF2-40B4-BE49-F238E27FC236}">
                <a16:creationId xmlns:a16="http://schemas.microsoft.com/office/drawing/2014/main" id="{C91E2A08-C67A-80C1-60B7-652D0119BB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1902" y="814655"/>
            <a:ext cx="965237" cy="1104029"/>
          </a:xfrm>
          <a:prstGeom prst="rect">
            <a:avLst/>
          </a:prstGeom>
        </p:spPr>
      </p:pic>
      <p:pic>
        <p:nvPicPr>
          <p:cNvPr id="55" name="Picture 54" descr="A black spiral with a white background&#10;&#10;AI-generated content may be incorrect.">
            <a:extLst>
              <a:ext uri="{FF2B5EF4-FFF2-40B4-BE49-F238E27FC236}">
                <a16:creationId xmlns:a16="http://schemas.microsoft.com/office/drawing/2014/main" id="{B614D9AD-34C7-73B8-2B29-EB9F154F01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7139" y="904466"/>
            <a:ext cx="1104900" cy="495300"/>
          </a:xfrm>
          <a:prstGeom prst="rect">
            <a:avLst/>
          </a:prstGeom>
        </p:spPr>
      </p:pic>
      <p:pic>
        <p:nvPicPr>
          <p:cNvPr id="56" name="Picture 55" descr="A black zigzag line&#10;&#10;AI-generated content may be incorrect.">
            <a:extLst>
              <a:ext uri="{FF2B5EF4-FFF2-40B4-BE49-F238E27FC236}">
                <a16:creationId xmlns:a16="http://schemas.microsoft.com/office/drawing/2014/main" id="{A0911AE9-D521-C713-0159-FDD3520A90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8576" y="936340"/>
            <a:ext cx="1014014" cy="454138"/>
          </a:xfrm>
          <a:prstGeom prst="rect">
            <a:avLst/>
          </a:prstGeo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4BFE644-E7D8-BFB6-C1BC-4F7FF75E3744}"/>
              </a:ext>
            </a:extLst>
          </p:cNvPr>
          <p:cNvCxnSpPr>
            <a:cxnSpLocks/>
          </p:cNvCxnSpPr>
          <p:nvPr/>
        </p:nvCxnSpPr>
        <p:spPr>
          <a:xfrm>
            <a:off x="2961726" y="1163409"/>
            <a:ext cx="0" cy="1381859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E58E4AB-373E-393A-58C5-6541A76C6BF8}"/>
              </a:ext>
            </a:extLst>
          </p:cNvPr>
          <p:cNvCxnSpPr>
            <a:cxnSpLocks/>
          </p:cNvCxnSpPr>
          <p:nvPr/>
        </p:nvCxnSpPr>
        <p:spPr>
          <a:xfrm>
            <a:off x="9002590" y="1163408"/>
            <a:ext cx="0" cy="12111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8CF5D7E-B4F5-8D73-88E2-04D91D6AAFAC}"/>
              </a:ext>
            </a:extLst>
          </p:cNvPr>
          <p:cNvCxnSpPr>
            <a:cxnSpLocks/>
          </p:cNvCxnSpPr>
          <p:nvPr/>
        </p:nvCxnSpPr>
        <p:spPr>
          <a:xfrm flipH="1">
            <a:off x="2961726" y="2545268"/>
            <a:ext cx="2280176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4B01FC7-2976-395B-739D-0FFADA44ECFD}"/>
              </a:ext>
            </a:extLst>
          </p:cNvPr>
          <p:cNvCxnSpPr>
            <a:cxnSpLocks/>
          </p:cNvCxnSpPr>
          <p:nvPr/>
        </p:nvCxnSpPr>
        <p:spPr>
          <a:xfrm flipH="1">
            <a:off x="8495583" y="2370303"/>
            <a:ext cx="507007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6E4BEC91-579C-879A-50A5-CDE530A1CD23}"/>
              </a:ext>
            </a:extLst>
          </p:cNvPr>
          <p:cNvSpPr/>
          <p:nvPr/>
        </p:nvSpPr>
        <p:spPr>
          <a:xfrm>
            <a:off x="3862372" y="1132313"/>
            <a:ext cx="92477" cy="6219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C53647A-69FD-D936-5966-8AA0E2E3DE6D}"/>
              </a:ext>
            </a:extLst>
          </p:cNvPr>
          <p:cNvSpPr/>
          <p:nvPr/>
        </p:nvSpPr>
        <p:spPr>
          <a:xfrm>
            <a:off x="5935663" y="1145305"/>
            <a:ext cx="92477" cy="62191"/>
          </a:xfrm>
          <a:prstGeom prst="ellipse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3BF54C35-FAF0-25CD-477B-EDA546EDC09B}"/>
              </a:ext>
            </a:extLst>
          </p:cNvPr>
          <p:cNvSpPr/>
          <p:nvPr/>
        </p:nvSpPr>
        <p:spPr>
          <a:xfrm>
            <a:off x="6892357" y="1139844"/>
            <a:ext cx="92477" cy="62191"/>
          </a:xfrm>
          <a:prstGeom prst="ellipse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DC93016-2D74-E647-E066-0EEA61A8BD43}"/>
                  </a:ext>
                </a:extLst>
              </p:cNvPr>
              <p:cNvSpPr txBox="1"/>
              <p:nvPr/>
            </p:nvSpPr>
            <p:spPr>
              <a:xfrm>
                <a:off x="6768820" y="1273343"/>
                <a:ext cx="51098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E" sz="1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E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E" sz="1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E" sz="1400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DC93016-2D74-E647-E066-0EEA61A8B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8820" y="1273343"/>
                <a:ext cx="510988" cy="523220"/>
              </a:xfrm>
              <a:prstGeom prst="rect">
                <a:avLst/>
              </a:prstGeom>
              <a:blipFill>
                <a:blip r:embed="rId9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0202B19A-82D6-0294-3CB5-D8341255BD3F}"/>
                  </a:ext>
                </a:extLst>
              </p:cNvPr>
              <p:cNvSpPr txBox="1"/>
              <p:nvPr/>
            </p:nvSpPr>
            <p:spPr>
              <a:xfrm>
                <a:off x="5645268" y="1279211"/>
                <a:ext cx="64093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E" sz="1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E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E" sz="1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E" sz="1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0202B19A-82D6-0294-3CB5-D8341255B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268" y="1279211"/>
                <a:ext cx="640934" cy="523220"/>
              </a:xfrm>
              <a:prstGeom prst="rect">
                <a:avLst/>
              </a:prstGeom>
              <a:blipFill>
                <a:blip r:embed="rId10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72A35B0-7D5C-E66A-E604-FF2B4698218E}"/>
                  </a:ext>
                </a:extLst>
              </p:cNvPr>
              <p:cNvSpPr txBox="1"/>
              <p:nvPr/>
            </p:nvSpPr>
            <p:spPr>
              <a:xfrm>
                <a:off x="3609999" y="1228310"/>
                <a:ext cx="78258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𝑎𝑣</m:t>
                          </m:r>
                        </m:sub>
                      </m:sSub>
                    </m:oMath>
                  </m:oMathPara>
                </a14:m>
                <a:endParaRPr lang="en-IE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E" sz="1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E" sz="14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72A35B0-7D5C-E66A-E604-FF2B46982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9999" y="1228310"/>
                <a:ext cx="782585" cy="523220"/>
              </a:xfrm>
              <a:prstGeom prst="rect">
                <a:avLst/>
              </a:prstGeom>
              <a:blipFill>
                <a:blip r:embed="rId11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C9DE5720-DC19-A293-0BB9-88B11F614F02}"/>
                  </a:ext>
                </a:extLst>
              </p:cNvPr>
              <p:cNvSpPr txBox="1"/>
              <p:nvPr/>
            </p:nvSpPr>
            <p:spPr>
              <a:xfrm>
                <a:off x="3189765" y="1006805"/>
                <a:ext cx="54766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E" sz="1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C9DE5720-DC19-A293-0BB9-88B11F614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765" y="1006805"/>
                <a:ext cx="547665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A09BCC1-C3F9-5A77-CC4B-5A1F6E60C9F9}"/>
                  </a:ext>
                </a:extLst>
              </p:cNvPr>
              <p:cNvSpPr txBox="1"/>
              <p:nvPr/>
            </p:nvSpPr>
            <p:spPr>
              <a:xfrm>
                <a:off x="6202816" y="985985"/>
                <a:ext cx="547665" cy="300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35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35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E" sz="135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A09BCC1-C3F9-5A77-CC4B-5A1F6E60C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2816" y="985985"/>
                <a:ext cx="547665" cy="30008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EF048764-9C52-3708-CC5F-A863FEA79CA3}"/>
                  </a:ext>
                </a:extLst>
              </p:cNvPr>
              <p:cNvSpPr txBox="1"/>
              <p:nvPr/>
            </p:nvSpPr>
            <p:spPr>
              <a:xfrm>
                <a:off x="4137036" y="779617"/>
                <a:ext cx="60413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E" sz="1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EF048764-9C52-3708-CC5F-A863FEA79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036" y="779617"/>
                <a:ext cx="604136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BD91FD7-A08C-5E0A-7875-6559A1C0DE83}"/>
                  </a:ext>
                </a:extLst>
              </p:cNvPr>
              <p:cNvSpPr txBox="1"/>
              <p:nvPr/>
            </p:nvSpPr>
            <p:spPr>
              <a:xfrm>
                <a:off x="7188636" y="759761"/>
                <a:ext cx="604136" cy="300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35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35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E" sz="135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BD91FD7-A08C-5E0A-7875-6559A1C0D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8636" y="759761"/>
                <a:ext cx="604136" cy="30008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169C61F-A93D-2FB8-1C24-2C9ACE185DBC}"/>
                  </a:ext>
                </a:extLst>
              </p:cNvPr>
              <p:cNvSpPr txBox="1"/>
              <p:nvPr/>
            </p:nvSpPr>
            <p:spPr>
              <a:xfrm>
                <a:off x="5198283" y="736546"/>
                <a:ext cx="60413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E" sz="1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169C61F-A93D-2FB8-1C24-2C9ACE185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8283" y="736546"/>
                <a:ext cx="604136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E5FD7E9-D82D-4DCE-7066-FACC4AB8A14F}"/>
                  </a:ext>
                </a:extLst>
              </p:cNvPr>
              <p:cNvSpPr txBox="1"/>
              <p:nvPr/>
            </p:nvSpPr>
            <p:spPr>
              <a:xfrm>
                <a:off x="8151082" y="750030"/>
                <a:ext cx="604136" cy="300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35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35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E" sz="135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35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E5FD7E9-D82D-4DCE-7066-FACC4AB8A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1082" y="750030"/>
                <a:ext cx="604136" cy="30008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2D070F1-AFAD-DA83-ACE1-F0093B5EF442}"/>
              </a:ext>
            </a:extLst>
          </p:cNvPr>
          <p:cNvCxnSpPr>
            <a:cxnSpLocks/>
          </p:cNvCxnSpPr>
          <p:nvPr/>
        </p:nvCxnSpPr>
        <p:spPr>
          <a:xfrm flipH="1">
            <a:off x="5779754" y="2380544"/>
            <a:ext cx="116869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C2A3C98-8726-F2EF-FD97-A755D1D2BC0C}"/>
                  </a:ext>
                </a:extLst>
              </p:cNvPr>
              <p:cNvSpPr txBox="1"/>
              <p:nvPr/>
            </p:nvSpPr>
            <p:spPr>
              <a:xfrm>
                <a:off x="5820185" y="5682194"/>
                <a:ext cx="2919245" cy="651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𝑚𝑣</m:t>
                          </m:r>
                        </m:sub>
                      </m:sSub>
                      <m:r>
                        <a:rPr lang="en-IE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E" sz="1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E" sz="1400" i="1">
                                  <a:latin typeface="Cambria Math" panose="02040503050406030204" pitchFamily="18" charset="0"/>
                                </a:rPr>
                                <m:t>𝐶𝑄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E" sz="1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IE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E" sz="14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IE" sz="1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IE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E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E" sz="14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IE" sz="1400" i="1">
                                          <a:latin typeface="Cambria Math" panose="02040503050406030204" pitchFamily="18" charset="0"/>
                                        </a:rPr>
                                        <m:t>𝑚𝑣</m:t>
                                      </m:r>
                                    </m:sub>
                                  </m:sSub>
                                </m:e>
                              </m:rad>
                              <m:r>
                                <a:rPr lang="en-IE" sz="1400" i="1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sSub>
                                <m:sSubPr>
                                  <m:ctrlPr>
                                    <a:rPr lang="en-IE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1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IE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E" sz="14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IE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1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IE" sz="1400" i="1">
                                      <a:latin typeface="Cambria Math" panose="02040503050406030204" pitchFamily="18" charset="0"/>
                                    </a:rPr>
                                    <m:t>𝑚𝑣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E" sz="1400" i="1">
                                  <a:latin typeface="Cambria Math" panose="02040503050406030204" pitchFamily="18" charset="0"/>
                                </a:rPr>
                                <m:t>           0        </m:t>
                              </m:r>
                              <m:sSub>
                                <m:sSubPr>
                                  <m:ctrlPr>
                                    <a:rPr lang="en-IE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1400" i="1">
                                      <a:latin typeface="Cambria Math" panose="02040503050406030204" pitchFamily="18" charset="0"/>
                                    </a:rPr>
                                    <m:t>          </m:t>
                                  </m:r>
                                  <m:r>
                                    <a:rPr lang="en-IE" sz="1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IE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I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I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𝑚𝑣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IE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C2A3C98-8726-F2EF-FD97-A755D1D2B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0185" y="5682194"/>
                <a:ext cx="2919245" cy="651910"/>
              </a:xfrm>
              <a:prstGeom prst="rect">
                <a:avLst/>
              </a:prstGeom>
              <a:blipFill>
                <a:blip r:embed="rId18"/>
                <a:stretch>
                  <a:fillRect l="-11255" t="-190385" b="-27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>
            <a:extLst>
              <a:ext uri="{FF2B5EF4-FFF2-40B4-BE49-F238E27FC236}">
                <a16:creationId xmlns:a16="http://schemas.microsoft.com/office/drawing/2014/main" id="{138DB999-BAF3-EDA4-CACD-8056483BCCA0}"/>
              </a:ext>
            </a:extLst>
          </p:cNvPr>
          <p:cNvSpPr/>
          <p:nvPr/>
        </p:nvSpPr>
        <p:spPr>
          <a:xfrm>
            <a:off x="8789349" y="2339208"/>
            <a:ext cx="92477" cy="62191"/>
          </a:xfrm>
          <a:prstGeom prst="ellipse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8070162-1983-3210-C236-6CD961E4CA94}"/>
                  </a:ext>
                </a:extLst>
              </p:cNvPr>
              <p:cNvSpPr txBox="1"/>
              <p:nvPr/>
            </p:nvSpPr>
            <p:spPr>
              <a:xfrm>
                <a:off x="8453150" y="1753713"/>
                <a:ext cx="60218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E" sz="1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E" sz="1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E" sz="1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8070162-1983-3210-C236-6CD961E4C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3150" y="1753713"/>
                <a:ext cx="602185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black and white drawing of a sign&#10;&#10;AI-generated content may be incorrect.">
            <a:extLst>
              <a:ext uri="{FF2B5EF4-FFF2-40B4-BE49-F238E27FC236}">
                <a16:creationId xmlns:a16="http://schemas.microsoft.com/office/drawing/2014/main" id="{5DDCEDBC-8EFD-5C15-C0FA-D852D31AD0B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728787" y="2075362"/>
            <a:ext cx="864001" cy="756001"/>
          </a:xfrm>
          <a:prstGeom prst="rect">
            <a:avLst/>
          </a:prstGeom>
        </p:spPr>
      </p:pic>
      <p:pic>
        <p:nvPicPr>
          <p:cNvPr id="6" name="Picture 5" descr="A black arrow with a white background&#10;&#10;AI-generated content may be incorrect.">
            <a:extLst>
              <a:ext uri="{FF2B5EF4-FFF2-40B4-BE49-F238E27FC236}">
                <a16:creationId xmlns:a16="http://schemas.microsoft.com/office/drawing/2014/main" id="{0AC201C4-740F-068F-8A80-68D68587A04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10800000">
            <a:off x="7064656" y="2154503"/>
            <a:ext cx="388034" cy="445826"/>
          </a:xfrm>
          <a:prstGeom prst="rect">
            <a:avLst/>
          </a:prstGeom>
        </p:spPr>
      </p:pic>
      <p:pic>
        <p:nvPicPr>
          <p:cNvPr id="10" name="Picture 9" descr="A black line with a black arrow&#10;&#10;AI-generated content may be incorrect.">
            <a:extLst>
              <a:ext uri="{FF2B5EF4-FFF2-40B4-BE49-F238E27FC236}">
                <a16:creationId xmlns:a16="http://schemas.microsoft.com/office/drawing/2014/main" id="{3F02A3BF-E6EF-ECCE-2F63-706C0DD59D5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10800000">
            <a:off x="6484787" y="2181958"/>
            <a:ext cx="631498" cy="407273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74C75950-BA9E-6D88-8EB8-A0DB0E2A6E7B}"/>
              </a:ext>
            </a:extLst>
          </p:cNvPr>
          <p:cNvSpPr/>
          <p:nvPr/>
        </p:nvSpPr>
        <p:spPr>
          <a:xfrm>
            <a:off x="7630866" y="2339027"/>
            <a:ext cx="84374" cy="71146"/>
          </a:xfrm>
          <a:prstGeom prst="ellipse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9C1547E-FD57-FA24-7E2F-86E7B6729EBC}"/>
              </a:ext>
            </a:extLst>
          </p:cNvPr>
          <p:cNvCxnSpPr>
            <a:cxnSpLocks/>
            <a:stCxn id="23" idx="2"/>
          </p:cNvCxnSpPr>
          <p:nvPr/>
        </p:nvCxnSpPr>
        <p:spPr>
          <a:xfrm flipH="1" flipV="1">
            <a:off x="7294461" y="2371154"/>
            <a:ext cx="336405" cy="344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A95AC11-0673-4E20-8946-105272B5DDFD}"/>
                  </a:ext>
                </a:extLst>
              </p:cNvPr>
              <p:cNvSpPr txBox="1"/>
              <p:nvPr/>
            </p:nvSpPr>
            <p:spPr>
              <a:xfrm>
                <a:off x="7272362" y="1789767"/>
                <a:ext cx="602185" cy="507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35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E" sz="1350" i="1" dirty="0">
                              <a:latin typeface="Cambria Math" panose="02040503050406030204" pitchFamily="18" charset="0"/>
                            </a:rPr>
                            <m:t>𝑚𝑣</m:t>
                          </m:r>
                        </m:sub>
                      </m:sSub>
                    </m:oMath>
                  </m:oMathPara>
                </a14:m>
                <a:endParaRPr lang="en-US" sz="135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35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E" sz="135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E" sz="135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A95AC11-0673-4E20-8946-105272B5D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362" y="1789767"/>
                <a:ext cx="602185" cy="50783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Down Arrow 45">
            <a:extLst>
              <a:ext uri="{FF2B5EF4-FFF2-40B4-BE49-F238E27FC236}">
                <a16:creationId xmlns:a16="http://schemas.microsoft.com/office/drawing/2014/main" id="{B71347A5-09A1-5B23-F333-49EF624B2F0A}"/>
              </a:ext>
            </a:extLst>
          </p:cNvPr>
          <p:cNvSpPr/>
          <p:nvPr/>
        </p:nvSpPr>
        <p:spPr>
          <a:xfrm rot="10800000">
            <a:off x="8124787" y="2841824"/>
            <a:ext cx="36000" cy="269824"/>
          </a:xfrm>
          <a:prstGeom prst="downArrow">
            <a:avLst/>
          </a:prstGeom>
          <a:ln w="127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65EDC5B-C5B8-C1DF-5A7A-982FCCCA1A11}"/>
                  </a:ext>
                </a:extLst>
              </p:cNvPr>
              <p:cNvSpPr txBox="1"/>
              <p:nvPr/>
            </p:nvSpPr>
            <p:spPr>
              <a:xfrm>
                <a:off x="8092232" y="2825835"/>
                <a:ext cx="114052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𝑐h𝑎𝑚𝑏𝑒𝑟</m:t>
                          </m:r>
                        </m:sub>
                      </m:sSub>
                    </m:oMath>
                  </m:oMathPara>
                </a14:m>
                <a:endParaRPr lang="en-IE" sz="1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65EDC5B-C5B8-C1DF-5A7A-982FCCCA1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2232" y="2825835"/>
                <a:ext cx="1140524" cy="3077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C36AA23-02A9-8A6A-2F06-D70FC7CA686F}"/>
                  </a:ext>
                </a:extLst>
              </p:cNvPr>
              <p:cNvSpPr txBox="1"/>
              <p:nvPr/>
            </p:nvSpPr>
            <p:spPr>
              <a:xfrm>
                <a:off x="5838413" y="3526953"/>
                <a:ext cx="3428700" cy="494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sz="1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I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E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E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IE" sz="140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IE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E" sz="1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IE" sz="140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I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E" sz="1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IE" sz="1400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num>
                        <m:den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IE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E" sz="1400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IE" sz="1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E" sz="1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IE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E" sz="14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C36AA23-02A9-8A6A-2F06-D70FC7CA6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8413" y="3526953"/>
                <a:ext cx="3428700" cy="494238"/>
              </a:xfrm>
              <a:prstGeom prst="rect">
                <a:avLst/>
              </a:prstGeom>
              <a:blipFill>
                <a:blip r:embed="rId25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C2A9DAF-D524-24E9-D71A-4DB23297DD2D}"/>
                  </a:ext>
                </a:extLst>
              </p:cNvPr>
              <p:cNvSpPr txBox="1"/>
              <p:nvPr/>
            </p:nvSpPr>
            <p:spPr>
              <a:xfrm>
                <a:off x="5454887" y="4164929"/>
                <a:ext cx="3679147" cy="1278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sz="1400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I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E" sz="1400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I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E" sz="1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E" sz="1400" i="1">
                                  <a:latin typeface="Cambria Math" panose="02040503050406030204" pitchFamily="18" charset="0"/>
                                </a:rPr>
                                <m:t>1 −</m:t>
                              </m:r>
                              <m:func>
                                <m:funcPr>
                                  <m:ctrlPr>
                                    <a:rPr lang="en-IE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IE" sz="14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IE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IE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IE" sz="14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IE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E" sz="1400" i="1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E" sz="1400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  <m:r>
                                                <a:rPr lang="en-IE" sz="14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  <m:r>
                                    <a:rPr lang="en-IE" sz="1400" i="1">
                                      <a:latin typeface="Cambria Math" panose="02040503050406030204" pitchFamily="18" charset="0"/>
                                    </a:rPr>
                                    <m:t>               0</m:t>
                                  </m:r>
                                  <m:r>
                                    <a:rPr lang="en-I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I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I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&lt;</m:t>
                                  </m:r>
                                  <m:sSub>
                                    <m:sSubPr>
                                      <m:ctrlPr>
                                        <a:rPr lang="en-IE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E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IE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IE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IE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IE" sz="1400" i="1">
                                  <a:latin typeface="Cambria Math" panose="02040503050406030204" pitchFamily="18" charset="0"/>
                                </a:rPr>
                                <m:t>1 −</m:t>
                              </m:r>
                              <m:func>
                                <m:funcPr>
                                  <m:ctrlPr>
                                    <a:rPr lang="en-IE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IE" sz="14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IE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IE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IE" sz="14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IE" sz="1400" i="1">
                                              <a:latin typeface="Cambria Math" panose="02040503050406030204" pitchFamily="18" charset="0"/>
                                            </a:rPr>
                                            <m:t> 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IE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E" sz="1400" i="1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E" sz="1400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  <m:r>
                                                <a:rPr lang="en-IE" sz="14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IE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E" sz="1400" i="1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E" sz="1400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  <m:r>
                                                <a:rPr lang="en-IE" sz="14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IE" sz="14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IE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E" sz="1400" i="1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E" sz="1400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  <m:r>
                                                <a:rPr lang="en-IE" sz="14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r>
                                <a:rPr lang="en-IE" sz="1400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I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I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I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I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I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I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I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E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sSub>
                                <m:sSubPr>
                                  <m:ctrlPr>
                                    <a:rPr lang="en-I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                                    </m:t>
                                  </m:r>
                                  <m:r>
                                    <a:rPr lang="en-I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I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I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I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E" sz="14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C2A9DAF-D524-24E9-D71A-4DB23297D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4887" y="4164929"/>
                <a:ext cx="3679147" cy="127894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166C32C-0432-8375-A972-670B76E297C9}"/>
                  </a:ext>
                </a:extLst>
              </p:cNvPr>
              <p:cNvSpPr txBox="1"/>
              <p:nvPr/>
            </p:nvSpPr>
            <p:spPr>
              <a:xfrm>
                <a:off x="6179093" y="3084850"/>
                <a:ext cx="198623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E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E" sz="1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I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IE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E" sz="1400" i="1">
                              <a:latin typeface="Cambria Math" panose="02040503050406030204" pitchFamily="18" charset="0"/>
                            </a:rPr>
                            <m:t>𝑐h𝑎𝑚𝑏𝑒𝑟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166C32C-0432-8375-A972-670B76E29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9093" y="3084850"/>
                <a:ext cx="1986232" cy="30777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90D87AA2-A631-F0EF-D8FB-9A3F49FF87B7}"/>
              </a:ext>
            </a:extLst>
          </p:cNvPr>
          <p:cNvSpPr/>
          <p:nvPr/>
        </p:nvSpPr>
        <p:spPr>
          <a:xfrm>
            <a:off x="0" y="0"/>
            <a:ext cx="9144000" cy="74329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000" dirty="0">
                <a:solidFill>
                  <a:schemeClr val="tx2">
                    <a:lumMod val="50000"/>
                  </a:schemeClr>
                </a:solidFill>
                <a:latin typeface="Montserrat" pitchFamily="2" charset="77"/>
                <a:cs typeface="Calibri" panose="020F0502020204030204" pitchFamily="34" charset="0"/>
              </a:rPr>
              <a:t>Adding in 0D Chamber and Valve</a:t>
            </a:r>
          </a:p>
        </p:txBody>
      </p:sp>
      <p:pic>
        <p:nvPicPr>
          <p:cNvPr id="25" name="Picture 24" descr="A graph with red dots and numbers&#10;&#10;AI-generated content may be incorrect.">
            <a:extLst>
              <a:ext uri="{FF2B5EF4-FFF2-40B4-BE49-F238E27FC236}">
                <a16:creationId xmlns:a16="http://schemas.microsoft.com/office/drawing/2014/main" id="{18B2F1CB-CFA6-A169-33AC-C3379CC30014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71" y="3526953"/>
            <a:ext cx="4599259" cy="344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776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6" grpId="0"/>
      <p:bldP spid="48" grpId="0"/>
      <p:bldP spid="48" grpId="1"/>
      <p:bldP spid="49" grpId="0"/>
      <p:bldP spid="49" grpId="1"/>
      <p:bldP spid="50" grpId="0"/>
      <p:bldP spid="50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3BE4AB-1BD8-897D-35A7-2671332EBA17}"/>
              </a:ext>
            </a:extLst>
          </p:cNvPr>
          <p:cNvSpPr/>
          <p:nvPr/>
        </p:nvSpPr>
        <p:spPr>
          <a:xfrm>
            <a:off x="0" y="0"/>
            <a:ext cx="9144000" cy="74329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000" dirty="0">
                <a:solidFill>
                  <a:schemeClr val="tx2">
                    <a:lumMod val="50000"/>
                  </a:schemeClr>
                </a:solidFill>
                <a:latin typeface="Montserrat" pitchFamily="2" charset="77"/>
                <a:cs typeface="Calibri" panose="020F0502020204030204" pitchFamily="34" charset="0"/>
              </a:rPr>
              <a:t>Limitations and Future Work</a:t>
            </a:r>
          </a:p>
        </p:txBody>
      </p:sp>
      <p:pic>
        <p:nvPicPr>
          <p:cNvPr id="7" name="Picture 6" descr="A diagram of a heart&#10;&#10;AI-generated content may be incorrect.">
            <a:extLst>
              <a:ext uri="{FF2B5EF4-FFF2-40B4-BE49-F238E27FC236}">
                <a16:creationId xmlns:a16="http://schemas.microsoft.com/office/drawing/2014/main" id="{ADB2BC2E-D979-224A-FE3E-FEDF6241EF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5" y="866775"/>
            <a:ext cx="4714102" cy="3667220"/>
          </a:xfrm>
          <a:prstGeom prst="rect">
            <a:avLst/>
          </a:prstGeom>
        </p:spPr>
      </p:pic>
      <p:pic>
        <p:nvPicPr>
          <p:cNvPr id="8" name="Picture 7" descr="A close-up of a text&#10;&#10;AI-generated content may be incorrect.">
            <a:extLst>
              <a:ext uri="{FF2B5EF4-FFF2-40B4-BE49-F238E27FC236}">
                <a16:creationId xmlns:a16="http://schemas.microsoft.com/office/drawing/2014/main" id="{8D3D7CEF-2DC7-43C9-5C4A-3A1D8E467D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527" y="3203170"/>
            <a:ext cx="4356000" cy="266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12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FC59A-FFF8-07A2-B48C-AEADB2805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7752DD0-3915-1D01-F73B-48442958E4BF}"/>
              </a:ext>
            </a:extLst>
          </p:cNvPr>
          <p:cNvGrpSpPr/>
          <p:nvPr/>
        </p:nvGrpSpPr>
        <p:grpSpPr>
          <a:xfrm>
            <a:off x="-1722" y="1660391"/>
            <a:ext cx="9145721" cy="4973092"/>
            <a:chOff x="-1722" y="1660391"/>
            <a:chExt cx="9145721" cy="4973092"/>
          </a:xfrm>
        </p:grpSpPr>
        <p:pic>
          <p:nvPicPr>
            <p:cNvPr id="3" name="Picture 2" descr="A group of men in circles&#10;&#10;AI-generated content may be incorrect.">
              <a:extLst>
                <a:ext uri="{FF2B5EF4-FFF2-40B4-BE49-F238E27FC236}">
                  <a16:creationId xmlns:a16="http://schemas.microsoft.com/office/drawing/2014/main" id="{3AC55D4C-F3D8-4AA9-9DEC-9F52FB0E97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722" y="1660391"/>
              <a:ext cx="9145721" cy="497309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C6DF5D2-203C-6D48-9481-4884FA30C28A}"/>
                </a:ext>
              </a:extLst>
            </p:cNvPr>
            <p:cNvSpPr txBox="1"/>
            <p:nvPr/>
          </p:nvSpPr>
          <p:spPr>
            <a:xfrm>
              <a:off x="388810" y="1739316"/>
              <a:ext cx="4478434" cy="85485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2" name="Flowchart: Connector 1">
              <a:extLst>
                <a:ext uri="{FF2B5EF4-FFF2-40B4-BE49-F238E27FC236}">
                  <a16:creationId xmlns:a16="http://schemas.microsoft.com/office/drawing/2014/main" id="{07599244-092E-2516-8C2F-8871CDDDC88C}"/>
                </a:ext>
              </a:extLst>
            </p:cNvPr>
            <p:cNvSpPr/>
            <p:nvPr/>
          </p:nvSpPr>
          <p:spPr>
            <a:xfrm>
              <a:off x="1168002" y="4930253"/>
              <a:ext cx="1093505" cy="1093639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 descr="A person in a white shirt&#10;&#10;AI-generated content may be incorrect.">
              <a:extLst>
                <a:ext uri="{FF2B5EF4-FFF2-40B4-BE49-F238E27FC236}">
                  <a16:creationId xmlns:a16="http://schemas.microsoft.com/office/drawing/2014/main" id="{F76DD83A-0BE5-29A2-B3DD-58E10B2C2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46" t="4116" r="4746" b="19676"/>
            <a:stretch>
              <a:fillRect/>
            </a:stretch>
          </p:blipFill>
          <p:spPr>
            <a:xfrm>
              <a:off x="1168001" y="4930252"/>
              <a:ext cx="1093505" cy="1093639"/>
            </a:xfrm>
            <a:prstGeom prst="ellipse">
              <a:avLst/>
            </a:prstGeom>
            <a:ln>
              <a:noFill/>
            </a:ln>
            <a:effectLst/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6AFFF466-3A9A-D721-B56E-6DE46FA734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628" y="5433056"/>
            <a:ext cx="2691655" cy="11823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6000DE-AE4A-DB91-24EF-C430513E75F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46825" y="5522611"/>
            <a:ext cx="2064087" cy="100323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2E0FBDD-E2DE-4422-33F5-641FAC206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711" y="711294"/>
            <a:ext cx="8647572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Montserrat" pitchFamily="2" charset="77"/>
                <a:cs typeface="Times New Roman" panose="02020603050405020304" pitchFamily="18" charset="0"/>
              </a:rPr>
              <a:t>This project has received funding from the European Research Council (ERC) under the European Union’s Horizon 2020 research and innovation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Montserrat" pitchFamily="2" charset="77"/>
                <a:cs typeface="Times New Roman" panose="02020603050405020304" pitchFamily="18" charset="0"/>
              </a:rPr>
              <a:t>programme</a:t>
            </a:r>
            <a:r>
              <a:rPr lang="en-US" altLang="en-US" sz="1400" dirty="0"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Montserrat" pitchFamily="2" charset="77"/>
                <a:cs typeface="Times New Roman" panose="02020603050405020304" pitchFamily="18" charset="0"/>
              </a:rPr>
              <a:t>(Grant Agreement No. 101088740). In addition, Financial support is gratefully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Montserrat" pitchFamily="2" charset="77"/>
                <a:cs typeface="Times New Roman" panose="02020603050405020304" pitchFamily="18" charset="0"/>
              </a:rPr>
              <a:t>acknowledged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Montserrat" pitchFamily="2" charset="77"/>
                <a:cs typeface="Times New Roman" panose="02020603050405020304" pitchFamily="18" charset="0"/>
              </a:rPr>
              <a:t> from I-Form, funded by Research Ireland (formerly SFI) Grant Number RC2302 2, co-funded under European Regional Development Fund and by I-Form industry partners.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6C239E-03D7-42CD-7923-E98BDADF9AA6}"/>
              </a:ext>
            </a:extLst>
          </p:cNvPr>
          <p:cNvSpPr/>
          <p:nvPr/>
        </p:nvSpPr>
        <p:spPr>
          <a:xfrm>
            <a:off x="-1722" y="0"/>
            <a:ext cx="9144000" cy="74329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000" dirty="0">
                <a:solidFill>
                  <a:schemeClr val="tx2">
                    <a:lumMod val="50000"/>
                  </a:schemeClr>
                </a:solidFill>
                <a:latin typeface="Montserrat" pitchFamily="2" charset="77"/>
                <a:cs typeface="Calibri" panose="020F0502020204030204" pitchFamily="34" charset="0"/>
              </a:rPr>
              <a:t>Acknowledgements</a:t>
            </a:r>
          </a:p>
        </p:txBody>
      </p:sp>
    </p:spTree>
    <p:extLst>
      <p:ext uri="{BB962C8B-B14F-4D97-AF65-F5344CB8AC3E}">
        <p14:creationId xmlns:p14="http://schemas.microsoft.com/office/powerpoint/2010/main" val="377086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person's heart&#10;&#10;AI-generated content may be incorrect.">
            <a:extLst>
              <a:ext uri="{FF2B5EF4-FFF2-40B4-BE49-F238E27FC236}">
                <a16:creationId xmlns:a16="http://schemas.microsoft.com/office/drawing/2014/main" id="{D736A8C5-1B16-79F8-1477-35492B26DB8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133475"/>
            <a:ext cx="7772400" cy="43719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A1F040-07EA-1B76-E272-744277DE5307}"/>
              </a:ext>
            </a:extLst>
          </p:cNvPr>
          <p:cNvSpPr txBox="1"/>
          <p:nvPr/>
        </p:nvSpPr>
        <p:spPr>
          <a:xfrm>
            <a:off x="2638425" y="2476500"/>
            <a:ext cx="38671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/>
                </a:solidFill>
                <a:latin typeface="Montserrat" pitchFamily="2" charset="77"/>
              </a:rPr>
              <a:t>Thank you!</a:t>
            </a:r>
          </a:p>
          <a:p>
            <a:pPr algn="ctr"/>
            <a:endParaRPr lang="en-US" sz="3000" dirty="0">
              <a:solidFill>
                <a:schemeClr val="accent1"/>
              </a:solidFill>
              <a:latin typeface="Montserrat" pitchFamily="2" charset="77"/>
            </a:endParaRPr>
          </a:p>
          <a:p>
            <a:pPr algn="ctr"/>
            <a:r>
              <a:rPr lang="en-US" sz="2000" dirty="0">
                <a:latin typeface="Montserrat" pitchFamily="2" charset="77"/>
              </a:rPr>
              <a:t>Happy to take questions</a:t>
            </a:r>
          </a:p>
        </p:txBody>
      </p:sp>
    </p:spTree>
    <p:extLst>
      <p:ext uri="{BB962C8B-B14F-4D97-AF65-F5344CB8AC3E}">
        <p14:creationId xmlns:p14="http://schemas.microsoft.com/office/powerpoint/2010/main" val="2117907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11361</TotalTime>
  <Words>336</Words>
  <Application>Microsoft Macintosh PowerPoint</Application>
  <PresentationFormat>On-screen Show (4:3)</PresentationFormat>
  <Paragraphs>97</Paragraphs>
  <Slides>12</Slides>
  <Notes>2</Notes>
  <HiddenSlides>0</HiddenSlides>
  <MMClips>4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Cambria Math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David Kelly</cp:lastModifiedBy>
  <cp:revision>81</cp:revision>
  <dcterms:modified xsi:type="dcterms:W3CDTF">2026-01-24T07:50:04Z</dcterms:modified>
  <dc:language>en-US</dc:language>
</cp:coreProperties>
</file>